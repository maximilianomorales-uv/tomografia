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9144000"/>
  <p:embeddedFontLst>
    <p:embeddedFont>
      <p:font typeface="Merriweather"/>
      <p:regular r:id="rId22"/>
      <p:bold r:id="rId23"/>
      <p:italic r:id="rId24"/>
      <p:boldItalic r:id="rId25"/>
    </p:embeddedFont>
    <p:embeddedFont>
      <p:font typeface="DM Sans"/>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Merriweather-regular.fntdata"/><Relationship Id="rId21" Type="http://schemas.openxmlformats.org/officeDocument/2006/relationships/slide" Target="slides/slide16.xml"/><Relationship Id="rId24" Type="http://schemas.openxmlformats.org/officeDocument/2006/relationships/font" Target="fonts/Merriweather-italic.fntdata"/><Relationship Id="rId23" Type="http://schemas.openxmlformats.org/officeDocument/2006/relationships/font" Target="fonts/Merriweather-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DMSans-regular.fntdata"/><Relationship Id="rId25" Type="http://schemas.openxmlformats.org/officeDocument/2006/relationships/font" Target="fonts/Merriweather-boldItalic.fntdata"/><Relationship Id="rId28" Type="http://schemas.openxmlformats.org/officeDocument/2006/relationships/font" Target="fonts/DMSans-italic.fntdata"/><Relationship Id="rId27" Type="http://schemas.openxmlformats.org/officeDocument/2006/relationships/font" Target="fonts/DMSans-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DMSans-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1.png"/><Relationship Id="rId6" Type="http://schemas.openxmlformats.org/officeDocument/2006/relationships/image" Target="../media/image17.png"/><Relationship Id="rId7" Type="http://schemas.openxmlformats.org/officeDocument/2006/relationships/image" Target="../media/image3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3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4.png"/><Relationship Id="rId6" Type="http://schemas.openxmlformats.org/officeDocument/2006/relationships/image" Target="../media/image37.png"/><Relationship Id="rId7"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8.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6.png"/><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8.png"/><Relationship Id="rId5"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0.png"/><Relationship Id="rId9" Type="http://schemas.openxmlformats.org/officeDocument/2006/relationships/image" Target="../media/image22.png"/><Relationship Id="rId5" Type="http://schemas.openxmlformats.org/officeDocument/2006/relationships/image" Target="../media/image8.png"/><Relationship Id="rId6" Type="http://schemas.openxmlformats.org/officeDocument/2006/relationships/image" Target="../media/image14.png"/><Relationship Id="rId7" Type="http://schemas.openxmlformats.org/officeDocument/2006/relationships/image" Target="../media/image11.png"/><Relationship Id="rId8"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27.png"/><Relationship Id="rId7"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20.png"/><Relationship Id="rId5" Type="http://schemas.openxmlformats.org/officeDocument/2006/relationships/image" Target="../media/image28.png"/><Relationship Id="rId6" Type="http://schemas.openxmlformats.org/officeDocument/2006/relationships/image" Target="../media/image3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26.png"/><Relationship Id="rId5" Type="http://schemas.openxmlformats.org/officeDocument/2006/relationships/image" Target="../media/image25.png"/><Relationship Id="rId6" Type="http://schemas.openxmlformats.org/officeDocument/2006/relationships/image" Target="../media/image30.png"/><Relationship Id="rId7"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AF1"/>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4648200" y="3938587"/>
            <a:ext cx="2895600" cy="1323975"/>
          </a:xfrm>
          <a:prstGeom prst="rect">
            <a:avLst/>
          </a:prstGeom>
          <a:noFill/>
          <a:ln>
            <a:noFill/>
          </a:ln>
        </p:spPr>
      </p:pic>
      <p:sp>
        <p:nvSpPr>
          <p:cNvPr id="86" name="Google Shape;86;p13"/>
          <p:cNvSpPr txBox="1"/>
          <p:nvPr/>
        </p:nvSpPr>
        <p:spPr>
          <a:xfrm>
            <a:off x="295275" y="1595437"/>
            <a:ext cx="11601450" cy="12573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4500" u="none" cap="none" strike="noStrike">
                <a:solidFill>
                  <a:srgbClr val="003366"/>
                </a:solidFill>
                <a:latin typeface="Merriweather"/>
                <a:ea typeface="Merriweather"/>
                <a:cs typeface="Merriweather"/>
                <a:sym typeface="Merriweather"/>
              </a:rPr>
              <a:t>Segmentación Automática de Nódulos Pulmonares en CT</a:t>
            </a:r>
            <a:endParaRPr/>
          </a:p>
        </p:txBody>
      </p:sp>
      <p:sp>
        <p:nvSpPr>
          <p:cNvPr id="87" name="Google Shape;87;p13"/>
          <p:cNvSpPr txBox="1"/>
          <p:nvPr/>
        </p:nvSpPr>
        <p:spPr>
          <a:xfrm>
            <a:off x="571500" y="3090862"/>
            <a:ext cx="11049000" cy="37147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i="0" lang="en-US" sz="1950" u="none" cap="none" strike="noStrike">
                <a:solidFill>
                  <a:srgbClr val="11CAA0"/>
                </a:solidFill>
                <a:latin typeface="DM Sans"/>
                <a:ea typeface="DM Sans"/>
                <a:cs typeface="DM Sans"/>
                <a:sym typeface="DM Sans"/>
              </a:rPr>
              <a:t>Mediante Arquitecturas de Aprendizaje Profundo</a:t>
            </a:r>
            <a:endParaRPr/>
          </a:p>
        </p:txBody>
      </p:sp>
      <p:sp>
        <p:nvSpPr>
          <p:cNvPr id="88" name="Google Shape;88;p13"/>
          <p:cNvSpPr txBox="1"/>
          <p:nvPr/>
        </p:nvSpPr>
        <p:spPr>
          <a:xfrm>
            <a:off x="4648200" y="4243387"/>
            <a:ext cx="2895600" cy="31432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i="0" lang="en-US" sz="1650" u="none" cap="none" strike="noStrike">
                <a:solidFill>
                  <a:srgbClr val="003366"/>
                </a:solidFill>
                <a:latin typeface="DM Sans"/>
                <a:ea typeface="DM Sans"/>
                <a:cs typeface="DM Sans"/>
                <a:sym typeface="DM Sans"/>
              </a:rPr>
              <a:t>Maximiliano Morales</a:t>
            </a:r>
            <a:endParaRPr/>
          </a:p>
        </p:txBody>
      </p:sp>
      <p:sp>
        <p:nvSpPr>
          <p:cNvPr id="89" name="Google Shape;89;p13"/>
          <p:cNvSpPr txBox="1"/>
          <p:nvPr/>
        </p:nvSpPr>
        <p:spPr>
          <a:xfrm>
            <a:off x="4648200" y="4605337"/>
            <a:ext cx="2895600" cy="25717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350" u="none" cap="none" strike="noStrike">
                <a:solidFill>
                  <a:srgbClr val="64748B"/>
                </a:solidFill>
                <a:latin typeface="DM Sans"/>
                <a:ea typeface="DM Sans"/>
                <a:cs typeface="DM Sans"/>
                <a:sym typeface="DM Sans"/>
              </a:rPr>
              <a:t>Escuela de Ingeniería Civil Biomédica</a:t>
            </a:r>
            <a:endParaRPr/>
          </a:p>
        </p:txBody>
      </p:sp>
      <p:sp>
        <p:nvSpPr>
          <p:cNvPr id="90" name="Google Shape;90;p13"/>
          <p:cNvSpPr txBox="1"/>
          <p:nvPr/>
        </p:nvSpPr>
        <p:spPr>
          <a:xfrm>
            <a:off x="4648200" y="5262562"/>
            <a:ext cx="2895600" cy="2079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350" u="none" cap="none" strike="noStrike">
                <a:solidFill>
                  <a:srgbClr val="64748B"/>
                </a:solidFill>
                <a:latin typeface="DM Sans"/>
                <a:ea typeface="DM Sans"/>
                <a:cs typeface="DM Sans"/>
                <a:sym typeface="DM Sans"/>
              </a:rPr>
              <a:t>Universidad de Valparaíso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3366"/>
        </a:solidFill>
      </p:bgPr>
    </p:bg>
    <p:spTree>
      <p:nvGrpSpPr>
        <p:cNvPr id="94" name="Shape 94"/>
        <p:cNvGrpSpPr/>
        <p:nvPr/>
      </p:nvGrpSpPr>
      <p:grpSpPr>
        <a:xfrm>
          <a:off x="0" y="0"/>
          <a:ext cx="0" cy="0"/>
          <a:chOff x="0" y="0"/>
          <a:chExt cx="0" cy="0"/>
        </a:xfrm>
      </p:grpSpPr>
      <p:pic>
        <p:nvPicPr>
          <p:cNvPr descr="image.png" id="95" name="Google Shape;95;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6" name="Google Shape;96;p14"/>
          <p:cNvSpPr/>
          <p:nvPr/>
        </p:nvSpPr>
        <p:spPr>
          <a:xfrm>
            <a:off x="5619750" y="2598092"/>
            <a:ext cx="952500" cy="47625"/>
          </a:xfrm>
          <a:prstGeom prst="rect">
            <a:avLst/>
          </a:prstGeom>
          <a:solidFill>
            <a:srgbClr val="11CA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 name="Google Shape;97;p14"/>
          <p:cNvSpPr txBox="1"/>
          <p:nvPr/>
        </p:nvSpPr>
        <p:spPr>
          <a:xfrm>
            <a:off x="3225641" y="3374082"/>
            <a:ext cx="5740717" cy="666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FFFFF"/>
                </a:solidFill>
                <a:latin typeface="Merriweather"/>
                <a:ea typeface="Merriweather"/>
                <a:cs typeface="Merriweather"/>
                <a:sym typeface="Merriweather"/>
              </a:rPr>
              <a:t>01. El Desafío Clínico</a:t>
            </a:r>
            <a:endParaRPr/>
          </a:p>
        </p:txBody>
      </p:sp>
      <p:sp>
        <p:nvSpPr>
          <p:cNvPr id="98" name="Google Shape;98;p14"/>
          <p:cNvSpPr txBox="1"/>
          <p:nvPr/>
        </p:nvSpPr>
        <p:spPr>
          <a:xfrm>
            <a:off x="2986087" y="4231332"/>
            <a:ext cx="6219825" cy="31432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650" u="none" cap="none" strike="noStrike">
                <a:solidFill>
                  <a:srgbClr val="CBD5E1"/>
                </a:solidFill>
                <a:latin typeface="DM Sans"/>
                <a:ea typeface="DM Sans"/>
                <a:cs typeface="DM Sans"/>
                <a:sym typeface="DM Sans"/>
              </a:rPr>
              <a:t>Contexto oncológico, carga radiológica de trabajo y variabilidad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AF1"/>
        </a:solidFill>
      </p:bgPr>
    </p:bg>
    <p:spTree>
      <p:nvGrpSpPr>
        <p:cNvPr id="102" name="Shape 102"/>
        <p:cNvGrpSpPr/>
        <p:nvPr/>
      </p:nvGrpSpPr>
      <p:grpSpPr>
        <a:xfrm>
          <a:off x="0" y="0"/>
          <a:ext cx="0" cy="0"/>
          <a:chOff x="0" y="0"/>
          <a:chExt cx="0" cy="0"/>
        </a:xfrm>
      </p:grpSpPr>
      <p:pic>
        <p:nvPicPr>
          <p:cNvPr descr="image.png" id="103" name="Google Shape;103;p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4" name="Google Shape;104;p15"/>
          <p:cNvSpPr txBox="1"/>
          <p:nvPr/>
        </p:nvSpPr>
        <p:spPr>
          <a:xfrm>
            <a:off x="571500" y="2038350"/>
            <a:ext cx="5550693"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03366"/>
                </a:solidFill>
                <a:latin typeface="Merriweather"/>
                <a:ea typeface="Merriweather"/>
                <a:cs typeface="Merriweather"/>
                <a:sym typeface="Merriweather"/>
              </a:rPr>
              <a:t>Alta Mortalidad Oncológica</a:t>
            </a:r>
            <a:endParaRPr/>
          </a:p>
        </p:txBody>
      </p:sp>
      <p:sp>
        <p:nvSpPr>
          <p:cNvPr id="105" name="Google Shape;105;p15"/>
          <p:cNvSpPr txBox="1"/>
          <p:nvPr/>
        </p:nvSpPr>
        <p:spPr>
          <a:xfrm>
            <a:off x="571500" y="2466975"/>
            <a:ext cx="5286375" cy="7715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DM Sans"/>
                <a:ea typeface="DM Sans"/>
                <a:cs typeface="DM Sans"/>
                <a:sym typeface="DM Sans"/>
              </a:rPr>
              <a:t>El carcinoma pulmonar es la causa principal de decesos oncológicos a nivel global. Un diagnóstico en etapas tempranas altera de forma radical las probabilidades de supervivencia.</a:t>
            </a:r>
            <a:endParaRPr/>
          </a:p>
        </p:txBody>
      </p:sp>
      <p:sp>
        <p:nvSpPr>
          <p:cNvPr id="106" name="Google Shape;106;p15"/>
          <p:cNvSpPr txBox="1"/>
          <p:nvPr/>
        </p:nvSpPr>
        <p:spPr>
          <a:xfrm>
            <a:off x="1000125" y="3429000"/>
            <a:ext cx="4857750"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DM Sans"/>
                <a:ea typeface="DM Sans"/>
                <a:cs typeface="DM Sans"/>
                <a:sym typeface="DM Sans"/>
              </a:rPr>
              <a:t>Carga Cognitiva:</a:t>
            </a:r>
            <a:r>
              <a:rPr b="0" i="0" lang="en-US" sz="1350" u="none" cap="none" strike="noStrike">
                <a:solidFill>
                  <a:srgbClr val="334155"/>
                </a:solidFill>
                <a:latin typeface="DM Sans"/>
                <a:ea typeface="DM Sans"/>
                <a:cs typeface="DM Sans"/>
                <a:sym typeface="DM Sans"/>
              </a:rPr>
              <a:t> Los radiólogos analizan cientos de cortes axiales bidimensionales densos por paciente.</a:t>
            </a:r>
            <a:endParaRPr/>
          </a:p>
        </p:txBody>
      </p:sp>
      <p:sp>
        <p:nvSpPr>
          <p:cNvPr id="107" name="Google Shape;107;p15"/>
          <p:cNvSpPr txBox="1"/>
          <p:nvPr/>
        </p:nvSpPr>
        <p:spPr>
          <a:xfrm>
            <a:off x="1000125" y="4152900"/>
            <a:ext cx="4857750"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DM Sans"/>
                <a:ea typeface="DM Sans"/>
                <a:cs typeface="DM Sans"/>
                <a:sym typeface="DM Sans"/>
              </a:rPr>
              <a:t>Fatiga Visual:</a:t>
            </a:r>
            <a:r>
              <a:rPr b="0" i="0" lang="en-US" sz="1350" u="none" cap="none" strike="noStrike">
                <a:solidFill>
                  <a:srgbClr val="334155"/>
                </a:solidFill>
                <a:latin typeface="DM Sans"/>
                <a:ea typeface="DM Sans"/>
                <a:cs typeface="DM Sans"/>
                <a:sym typeface="DM Sans"/>
              </a:rPr>
              <a:t> La inspección monótona de imágenes aumenta drásticamente el riesgo de omitir micro-nódulos.</a:t>
            </a:r>
            <a:endParaRPr/>
          </a:p>
        </p:txBody>
      </p:sp>
      <p:sp>
        <p:nvSpPr>
          <p:cNvPr id="108" name="Google Shape;108;p15"/>
          <p:cNvSpPr txBox="1"/>
          <p:nvPr/>
        </p:nvSpPr>
        <p:spPr>
          <a:xfrm>
            <a:off x="1000125" y="4876800"/>
            <a:ext cx="4857750"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DM Sans"/>
                <a:ea typeface="DM Sans"/>
                <a:cs typeface="DM Sans"/>
                <a:sym typeface="DM Sans"/>
              </a:rPr>
              <a:t>Variabilidad:</a:t>
            </a:r>
            <a:r>
              <a:rPr b="0" i="0" lang="en-US" sz="1350" u="none" cap="none" strike="noStrike">
                <a:solidFill>
                  <a:srgbClr val="334155"/>
                </a:solidFill>
                <a:latin typeface="DM Sans"/>
                <a:ea typeface="DM Sans"/>
                <a:cs typeface="DM Sans"/>
                <a:sym typeface="DM Sans"/>
              </a:rPr>
              <a:t> Alta tasa de discrepancia e inconsistencia diagnóstica inter-observador.</a:t>
            </a:r>
            <a:endParaRPr/>
          </a:p>
        </p:txBody>
      </p:sp>
      <p:pic>
        <p:nvPicPr>
          <p:cNvPr descr="image.png" id="109" name="Google Shape;109;p15"/>
          <p:cNvPicPr preferRelativeResize="0"/>
          <p:nvPr/>
        </p:nvPicPr>
        <p:blipFill rotWithShape="1">
          <a:blip r:embed="rId4">
            <a:alphaModFix/>
          </a:blip>
          <a:srcRect b="0" l="0" r="0" t="0"/>
          <a:stretch/>
        </p:blipFill>
        <p:spPr>
          <a:xfrm>
            <a:off x="619125" y="3438525"/>
            <a:ext cx="228600" cy="247650"/>
          </a:xfrm>
          <a:prstGeom prst="rect">
            <a:avLst/>
          </a:prstGeom>
          <a:noFill/>
          <a:ln>
            <a:noFill/>
          </a:ln>
        </p:spPr>
      </p:pic>
      <p:pic>
        <p:nvPicPr>
          <p:cNvPr descr="image.png" id="110" name="Google Shape;110;p15"/>
          <p:cNvPicPr preferRelativeResize="0"/>
          <p:nvPr/>
        </p:nvPicPr>
        <p:blipFill rotWithShape="1">
          <a:blip r:embed="rId5">
            <a:alphaModFix/>
          </a:blip>
          <a:srcRect b="0" l="0" r="0" t="0"/>
          <a:stretch/>
        </p:blipFill>
        <p:spPr>
          <a:xfrm>
            <a:off x="619125" y="4162425"/>
            <a:ext cx="285750" cy="247650"/>
          </a:xfrm>
          <a:prstGeom prst="rect">
            <a:avLst/>
          </a:prstGeom>
          <a:noFill/>
          <a:ln>
            <a:noFill/>
          </a:ln>
        </p:spPr>
      </p:pic>
      <p:pic>
        <p:nvPicPr>
          <p:cNvPr descr="image.png" id="111" name="Google Shape;111;p15"/>
          <p:cNvPicPr preferRelativeResize="0"/>
          <p:nvPr/>
        </p:nvPicPr>
        <p:blipFill rotWithShape="1">
          <a:blip r:embed="rId6">
            <a:alphaModFix/>
          </a:blip>
          <a:srcRect b="0" l="0" r="0" t="0"/>
          <a:stretch/>
        </p:blipFill>
        <p:spPr>
          <a:xfrm>
            <a:off x="619125" y="4886325"/>
            <a:ext cx="285750" cy="247650"/>
          </a:xfrm>
          <a:prstGeom prst="rect">
            <a:avLst/>
          </a:prstGeom>
          <a:noFill/>
          <a:ln>
            <a:noFill/>
          </a:ln>
        </p:spPr>
      </p:pic>
      <p:sp>
        <p:nvSpPr>
          <p:cNvPr id="112" name="Google Shape;112;p15"/>
          <p:cNvSpPr txBox="1"/>
          <p:nvPr/>
        </p:nvSpPr>
        <p:spPr>
          <a:xfrm>
            <a:off x="762000" y="571500"/>
            <a:ext cx="9801225"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03366"/>
                </a:solidFill>
                <a:latin typeface="Merriweather"/>
                <a:ea typeface="Merriweather"/>
                <a:cs typeface="Merriweather"/>
                <a:sym typeface="Merriweather"/>
              </a:rPr>
              <a:t>Impacto del Cáncer de Pulmón</a:t>
            </a:r>
            <a:endParaRPr/>
          </a:p>
        </p:txBody>
      </p:sp>
      <p:sp>
        <p:nvSpPr>
          <p:cNvPr id="113" name="Google Shape;113;p15"/>
          <p:cNvSpPr/>
          <p:nvPr/>
        </p:nvSpPr>
        <p:spPr>
          <a:xfrm>
            <a:off x="571500" y="571500"/>
            <a:ext cx="76200" cy="447675"/>
          </a:xfrm>
          <a:prstGeom prst="rect">
            <a:avLst/>
          </a:prstGeom>
          <a:solidFill>
            <a:srgbClr val="11CA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14" name="Google Shape;114;p15"/>
          <p:cNvPicPr preferRelativeResize="0"/>
          <p:nvPr/>
        </p:nvPicPr>
        <p:blipFill rotWithShape="1">
          <a:blip r:embed="rId7">
            <a:alphaModFix/>
          </a:blip>
          <a:srcRect b="0" l="0" r="0" t="0"/>
          <a:stretch/>
        </p:blipFill>
        <p:spPr>
          <a:xfrm>
            <a:off x="6534150" y="2105025"/>
            <a:ext cx="5238750" cy="3810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AF1"/>
        </a:solidFill>
      </p:bgPr>
    </p:bg>
    <p:spTree>
      <p:nvGrpSpPr>
        <p:cNvPr id="118" name="Shape 118"/>
        <p:cNvGrpSpPr/>
        <p:nvPr/>
      </p:nvGrpSpPr>
      <p:grpSpPr>
        <a:xfrm>
          <a:off x="0" y="0"/>
          <a:ext cx="0" cy="0"/>
          <a:chOff x="0" y="0"/>
          <a:chExt cx="0" cy="0"/>
        </a:xfrm>
      </p:grpSpPr>
      <p:pic>
        <p:nvPicPr>
          <p:cNvPr descr="image.png" id="119" name="Google Shape;119;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0" name="Google Shape;120;p16"/>
          <p:cNvSpPr txBox="1"/>
          <p:nvPr/>
        </p:nvSpPr>
        <p:spPr>
          <a:xfrm>
            <a:off x="571500" y="3014662"/>
            <a:ext cx="5286375" cy="123825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750" u="none" cap="none" strike="noStrike">
                <a:solidFill>
                  <a:srgbClr val="003366"/>
                </a:solidFill>
                <a:latin typeface="Merriweather"/>
                <a:ea typeface="Merriweather"/>
                <a:cs typeface="Merriweather"/>
                <a:sym typeface="Merriweather"/>
              </a:rPr>
              <a:t>0.74%</a:t>
            </a:r>
            <a:endParaRPr/>
          </a:p>
        </p:txBody>
      </p:sp>
      <p:sp>
        <p:nvSpPr>
          <p:cNvPr id="121" name="Google Shape;121;p16"/>
          <p:cNvSpPr txBox="1"/>
          <p:nvPr/>
        </p:nvSpPr>
        <p:spPr>
          <a:xfrm>
            <a:off x="571500" y="4348162"/>
            <a:ext cx="5286375"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11CAA0"/>
                </a:solidFill>
                <a:latin typeface="DM Sans"/>
                <a:ea typeface="DM Sans"/>
                <a:cs typeface="DM Sans"/>
                <a:sym typeface="DM Sans"/>
              </a:rPr>
              <a:t>PRESENCIA DE TEJIDO TUMORAL</a:t>
            </a:r>
            <a:endParaRPr/>
          </a:p>
        </p:txBody>
      </p:sp>
      <p:sp>
        <p:nvSpPr>
          <p:cNvPr id="122" name="Google Shape;122;p16"/>
          <p:cNvSpPr txBox="1"/>
          <p:nvPr/>
        </p:nvSpPr>
        <p:spPr>
          <a:xfrm>
            <a:off x="6334125" y="2143125"/>
            <a:ext cx="5550693"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03366"/>
                </a:solidFill>
                <a:latin typeface="Merriweather"/>
                <a:ea typeface="Merriweather"/>
                <a:cs typeface="Merriweather"/>
                <a:sym typeface="Merriweather"/>
              </a:rPr>
              <a:t>La "Aguja en el Pajar"</a:t>
            </a:r>
            <a:endParaRPr/>
          </a:p>
        </p:txBody>
      </p:sp>
      <p:sp>
        <p:nvSpPr>
          <p:cNvPr id="123" name="Google Shape;123;p16"/>
          <p:cNvSpPr txBox="1"/>
          <p:nvPr/>
        </p:nvSpPr>
        <p:spPr>
          <a:xfrm>
            <a:off x="6334125" y="2571750"/>
            <a:ext cx="5286300" cy="831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DM Sans"/>
                <a:ea typeface="DM Sans"/>
                <a:cs typeface="DM Sans"/>
                <a:sym typeface="DM Sans"/>
              </a:rPr>
              <a:t>El desbalance de clases biológico es masivo: el nódulo representa </a:t>
            </a:r>
            <a:r>
              <a:rPr lang="en-US" sz="1350">
                <a:solidFill>
                  <a:srgbClr val="334155"/>
                </a:solidFill>
                <a:latin typeface="DM Sans"/>
                <a:ea typeface="DM Sans"/>
                <a:cs typeface="DM Sans"/>
                <a:sym typeface="DM Sans"/>
              </a:rPr>
              <a:t>sólo</a:t>
            </a:r>
            <a:r>
              <a:rPr b="0" i="0" lang="en-US" sz="1350" u="none" cap="none" strike="noStrike">
                <a:solidFill>
                  <a:srgbClr val="334155"/>
                </a:solidFill>
                <a:latin typeface="DM Sans"/>
                <a:ea typeface="DM Sans"/>
                <a:cs typeface="DM Sans"/>
                <a:sym typeface="DM Sans"/>
              </a:rPr>
              <a:t> una fracción espacial ínfima del volumen total de la tomografía computarizada.</a:t>
            </a:r>
            <a:endParaRPr/>
          </a:p>
        </p:txBody>
      </p:sp>
      <p:sp>
        <p:nvSpPr>
          <p:cNvPr id="124" name="Google Shape;124;p16"/>
          <p:cNvSpPr txBox="1"/>
          <p:nvPr/>
        </p:nvSpPr>
        <p:spPr>
          <a:xfrm>
            <a:off x="6762750" y="3533775"/>
            <a:ext cx="4857750" cy="7715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DM Sans"/>
                <a:ea typeface="DM Sans"/>
                <a:cs typeface="DM Sans"/>
                <a:sym typeface="DM Sans"/>
              </a:rPr>
              <a:t>Falla de Métricas Comunes:</a:t>
            </a:r>
            <a:r>
              <a:rPr b="0" i="0" lang="en-US" sz="1350" u="none" cap="none" strike="noStrike">
                <a:solidFill>
                  <a:srgbClr val="334155"/>
                </a:solidFill>
                <a:latin typeface="DM Sans"/>
                <a:ea typeface="DM Sans"/>
                <a:cs typeface="DM Sans"/>
                <a:sym typeface="DM Sans"/>
              </a:rPr>
              <a:t> La entropía cruzada clásica y el Accuracy fallan debido a un sesgo masivo hacia el fondo sano.</a:t>
            </a:r>
            <a:endParaRPr/>
          </a:p>
        </p:txBody>
      </p:sp>
      <p:sp>
        <p:nvSpPr>
          <p:cNvPr id="125" name="Google Shape;125;p16"/>
          <p:cNvSpPr txBox="1"/>
          <p:nvPr/>
        </p:nvSpPr>
        <p:spPr>
          <a:xfrm>
            <a:off x="6762750" y="4514850"/>
            <a:ext cx="4857750" cy="7715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DM Sans"/>
                <a:ea typeface="DM Sans"/>
                <a:cs typeface="DM Sans"/>
                <a:sym typeface="DM Sans"/>
              </a:rPr>
              <a:t>Solapamiento Físico:</a:t>
            </a:r>
            <a:r>
              <a:rPr b="0" i="0" lang="en-US" sz="1350" u="none" cap="none" strike="noStrike">
                <a:solidFill>
                  <a:srgbClr val="334155"/>
                </a:solidFill>
                <a:latin typeface="DM Sans"/>
                <a:ea typeface="DM Sans"/>
                <a:cs typeface="DM Sans"/>
                <a:sym typeface="DM Sans"/>
              </a:rPr>
              <a:t> Los valores de Unidades Hounsfield de la lesión se solapan con vasos sanguíneos y bronquios adyacentes sanos.</a:t>
            </a:r>
            <a:endParaRPr/>
          </a:p>
        </p:txBody>
      </p:sp>
      <p:pic>
        <p:nvPicPr>
          <p:cNvPr descr="image.png" id="126" name="Google Shape;126;p16"/>
          <p:cNvPicPr preferRelativeResize="0"/>
          <p:nvPr/>
        </p:nvPicPr>
        <p:blipFill rotWithShape="1">
          <a:blip r:embed="rId4">
            <a:alphaModFix/>
          </a:blip>
          <a:srcRect b="0" l="0" r="0" t="0"/>
          <a:stretch/>
        </p:blipFill>
        <p:spPr>
          <a:xfrm>
            <a:off x="6381750" y="3543300"/>
            <a:ext cx="171450" cy="247650"/>
          </a:xfrm>
          <a:prstGeom prst="rect">
            <a:avLst/>
          </a:prstGeom>
          <a:noFill/>
          <a:ln>
            <a:noFill/>
          </a:ln>
        </p:spPr>
      </p:pic>
      <p:pic>
        <p:nvPicPr>
          <p:cNvPr descr="image.png" id="127" name="Google Shape;127;p16"/>
          <p:cNvPicPr preferRelativeResize="0"/>
          <p:nvPr/>
        </p:nvPicPr>
        <p:blipFill rotWithShape="1">
          <a:blip r:embed="rId5">
            <a:alphaModFix/>
          </a:blip>
          <a:srcRect b="0" l="0" r="0" t="0"/>
          <a:stretch/>
        </p:blipFill>
        <p:spPr>
          <a:xfrm>
            <a:off x="6381750" y="4524375"/>
            <a:ext cx="228600" cy="247650"/>
          </a:xfrm>
          <a:prstGeom prst="rect">
            <a:avLst/>
          </a:prstGeom>
          <a:noFill/>
          <a:ln>
            <a:noFill/>
          </a:ln>
        </p:spPr>
      </p:pic>
      <p:sp>
        <p:nvSpPr>
          <p:cNvPr id="128" name="Google Shape;128;p16"/>
          <p:cNvSpPr txBox="1"/>
          <p:nvPr/>
        </p:nvSpPr>
        <p:spPr>
          <a:xfrm>
            <a:off x="762000" y="571500"/>
            <a:ext cx="9801225"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03366"/>
                </a:solidFill>
                <a:latin typeface="Merriweather"/>
                <a:ea typeface="Merriweather"/>
                <a:cs typeface="Merriweather"/>
                <a:sym typeface="Merriweather"/>
              </a:rPr>
              <a:t>Desbalance de Clases Extremo</a:t>
            </a:r>
            <a:endParaRPr/>
          </a:p>
        </p:txBody>
      </p:sp>
      <p:sp>
        <p:nvSpPr>
          <p:cNvPr id="129" name="Google Shape;129;p16"/>
          <p:cNvSpPr/>
          <p:nvPr/>
        </p:nvSpPr>
        <p:spPr>
          <a:xfrm>
            <a:off x="571500" y="571500"/>
            <a:ext cx="76200" cy="447675"/>
          </a:xfrm>
          <a:prstGeom prst="rect">
            <a:avLst/>
          </a:prstGeom>
          <a:solidFill>
            <a:srgbClr val="11CA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3366"/>
        </a:solidFill>
      </p:bgPr>
    </p:bg>
    <p:spTree>
      <p:nvGrpSpPr>
        <p:cNvPr id="133" name="Shape 133"/>
        <p:cNvGrpSpPr/>
        <p:nvPr/>
      </p:nvGrpSpPr>
      <p:grpSpPr>
        <a:xfrm>
          <a:off x="0" y="0"/>
          <a:ext cx="0" cy="0"/>
          <a:chOff x="0" y="0"/>
          <a:chExt cx="0" cy="0"/>
        </a:xfrm>
      </p:grpSpPr>
      <p:pic>
        <p:nvPicPr>
          <p:cNvPr descr="image.png" id="134" name="Google Shape;134;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5" name="Google Shape;135;p17"/>
          <p:cNvSpPr/>
          <p:nvPr/>
        </p:nvSpPr>
        <p:spPr>
          <a:xfrm>
            <a:off x="5619750" y="2598092"/>
            <a:ext cx="952500" cy="47625"/>
          </a:xfrm>
          <a:prstGeom prst="rect">
            <a:avLst/>
          </a:prstGeom>
          <a:solidFill>
            <a:srgbClr val="11CA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6" name="Google Shape;136;p17"/>
          <p:cNvSpPr txBox="1"/>
          <p:nvPr/>
        </p:nvSpPr>
        <p:spPr>
          <a:xfrm>
            <a:off x="2540555" y="3374082"/>
            <a:ext cx="7110888" cy="666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FFFFF"/>
                </a:solidFill>
                <a:latin typeface="Merriweather"/>
                <a:ea typeface="Merriweather"/>
                <a:cs typeface="Merriweather"/>
                <a:sym typeface="Merriweather"/>
              </a:rPr>
              <a:t>02. La Solución Propuesta</a:t>
            </a:r>
            <a:endParaRPr/>
          </a:p>
        </p:txBody>
      </p:sp>
      <p:sp>
        <p:nvSpPr>
          <p:cNvPr id="137" name="Google Shape;137;p17"/>
          <p:cNvSpPr txBox="1"/>
          <p:nvPr/>
        </p:nvSpPr>
        <p:spPr>
          <a:xfrm>
            <a:off x="2909887" y="4231332"/>
            <a:ext cx="6372225" cy="31432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650" u="none" cap="none" strike="noStrike">
                <a:solidFill>
                  <a:srgbClr val="CBD5E1"/>
                </a:solidFill>
                <a:latin typeface="DM Sans"/>
                <a:ea typeface="DM Sans"/>
                <a:cs typeface="DM Sans"/>
                <a:sym typeface="DM Sans"/>
              </a:rPr>
              <a:t>Estudio detallado de la arquitectura de Red Convolucional U-Net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AF1"/>
        </a:solidFill>
      </p:bgPr>
    </p:bg>
    <p:spTree>
      <p:nvGrpSpPr>
        <p:cNvPr id="141" name="Shape 141"/>
        <p:cNvGrpSpPr/>
        <p:nvPr/>
      </p:nvGrpSpPr>
      <p:grpSpPr>
        <a:xfrm>
          <a:off x="0" y="0"/>
          <a:ext cx="0" cy="0"/>
          <a:chOff x="0" y="0"/>
          <a:chExt cx="0" cy="0"/>
        </a:xfrm>
      </p:grpSpPr>
      <p:pic>
        <p:nvPicPr>
          <p:cNvPr descr="image.png" id="142" name="Google Shape;142;p18"/>
          <p:cNvPicPr preferRelativeResize="0"/>
          <p:nvPr/>
        </p:nvPicPr>
        <p:blipFill rotWithShape="1">
          <a:blip r:embed="rId3">
            <a:alphaModFix/>
          </a:blip>
          <a:srcRect b="0" l="0" r="0" t="0"/>
          <a:stretch/>
        </p:blipFill>
        <p:spPr>
          <a:xfrm>
            <a:off x="0" y="-70625"/>
            <a:ext cx="12192000" cy="6858000"/>
          </a:xfrm>
          <a:prstGeom prst="rect">
            <a:avLst/>
          </a:prstGeom>
          <a:noFill/>
          <a:ln>
            <a:noFill/>
          </a:ln>
        </p:spPr>
      </p:pic>
      <p:pic>
        <p:nvPicPr>
          <p:cNvPr descr="image.png" id="143" name="Google Shape;143;p18"/>
          <p:cNvPicPr preferRelativeResize="0"/>
          <p:nvPr/>
        </p:nvPicPr>
        <p:blipFill rotWithShape="1">
          <a:blip r:embed="rId4">
            <a:alphaModFix/>
          </a:blip>
          <a:srcRect b="0" l="0" r="0" t="0"/>
          <a:stretch/>
        </p:blipFill>
        <p:spPr>
          <a:xfrm>
            <a:off x="6334125" y="2009775"/>
            <a:ext cx="5286375" cy="3619500"/>
          </a:xfrm>
          <a:prstGeom prst="rect">
            <a:avLst/>
          </a:prstGeom>
          <a:noFill/>
          <a:ln>
            <a:noFill/>
          </a:ln>
        </p:spPr>
      </p:pic>
      <p:sp>
        <p:nvSpPr>
          <p:cNvPr id="144" name="Google Shape;144;p18"/>
          <p:cNvSpPr txBox="1"/>
          <p:nvPr/>
        </p:nvSpPr>
        <p:spPr>
          <a:xfrm>
            <a:off x="571500" y="2009787"/>
            <a:ext cx="55506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03366"/>
                </a:solidFill>
                <a:latin typeface="Merriweather"/>
                <a:ea typeface="Merriweather"/>
                <a:cs typeface="Merriweather"/>
                <a:sym typeface="Merriweather"/>
              </a:rPr>
              <a:t>Diseño Simétrico</a:t>
            </a:r>
            <a:endParaRPr/>
          </a:p>
        </p:txBody>
      </p:sp>
      <p:sp>
        <p:nvSpPr>
          <p:cNvPr id="145" name="Google Shape;145;p18"/>
          <p:cNvSpPr txBox="1"/>
          <p:nvPr/>
        </p:nvSpPr>
        <p:spPr>
          <a:xfrm>
            <a:off x="619125" y="2459437"/>
            <a:ext cx="5286300" cy="1316100"/>
          </a:xfrm>
          <a:prstGeom prst="rect">
            <a:avLst/>
          </a:prstGeom>
          <a:noFill/>
          <a:ln>
            <a:noFill/>
          </a:ln>
        </p:spPr>
        <p:txBody>
          <a:bodyPr anchorCtr="0" anchor="t" bIns="0" lIns="0" spcFirstLastPara="1" rIns="0" wrap="square" tIns="0">
            <a:spAutoFit/>
          </a:bodyPr>
          <a:lstStyle/>
          <a:p>
            <a:pPr indent="0" lvl="0" marL="0" rtl="0" algn="l">
              <a:lnSpc>
                <a:spcPct val="160000"/>
              </a:lnSpc>
              <a:spcBef>
                <a:spcPts val="0"/>
              </a:spcBef>
              <a:spcAft>
                <a:spcPts val="0"/>
              </a:spcAft>
              <a:buClr>
                <a:schemeClr val="dk1"/>
              </a:buClr>
              <a:buFont typeface="Arial"/>
              <a:buNone/>
            </a:pPr>
            <a:r>
              <a:rPr lang="en-US" sz="1500">
                <a:solidFill>
                  <a:srgbClr val="334155"/>
                </a:solidFill>
                <a:latin typeface="DM Sans"/>
                <a:ea typeface="DM Sans"/>
                <a:cs typeface="DM Sans"/>
                <a:sym typeface="DM Sans"/>
              </a:rPr>
              <a:t>Se implementó la arquitectura </a:t>
            </a:r>
            <a:r>
              <a:rPr b="1" lang="en-US" sz="1500">
                <a:solidFill>
                  <a:srgbClr val="334155"/>
                </a:solidFill>
                <a:latin typeface="DM Sans"/>
                <a:ea typeface="DM Sans"/>
                <a:cs typeface="DM Sans"/>
                <a:sym typeface="DM Sans"/>
              </a:rPr>
              <a:t>U-Net</a:t>
            </a:r>
            <a:r>
              <a:rPr lang="en-US" sz="1500">
                <a:solidFill>
                  <a:srgbClr val="334155"/>
                </a:solidFill>
                <a:latin typeface="DM Sans"/>
                <a:ea typeface="DM Sans"/>
                <a:cs typeface="DM Sans"/>
                <a:sym typeface="DM Sans"/>
              </a:rPr>
              <a:t> clásica por su eficiencia con datasets acotados y su diseño simétrico de contracción y expansión.</a:t>
            </a:r>
            <a:endParaRPr>
              <a:solidFill>
                <a:schemeClr val="dk1"/>
              </a:solidFill>
            </a:endParaRPr>
          </a:p>
          <a:p>
            <a:pPr indent="0" lvl="0" marL="0" marR="0" rtl="0" algn="l">
              <a:lnSpc>
                <a:spcPct val="150000"/>
              </a:lnSpc>
              <a:spcBef>
                <a:spcPts val="0"/>
              </a:spcBef>
              <a:spcAft>
                <a:spcPts val="0"/>
              </a:spcAft>
              <a:buNone/>
            </a:pPr>
            <a:r>
              <a:t/>
            </a:r>
            <a:endParaRPr sz="1350">
              <a:solidFill>
                <a:srgbClr val="334155"/>
              </a:solidFill>
              <a:latin typeface="DM Sans"/>
              <a:ea typeface="DM Sans"/>
              <a:cs typeface="DM Sans"/>
              <a:sym typeface="DM Sans"/>
            </a:endParaRPr>
          </a:p>
        </p:txBody>
      </p:sp>
      <p:sp>
        <p:nvSpPr>
          <p:cNvPr id="146" name="Google Shape;146;p18"/>
          <p:cNvSpPr txBox="1"/>
          <p:nvPr/>
        </p:nvSpPr>
        <p:spPr>
          <a:xfrm>
            <a:off x="1000125" y="3662362"/>
            <a:ext cx="4857750" cy="7715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DM Sans"/>
                <a:ea typeface="DM Sans"/>
                <a:cs typeface="DM Sans"/>
                <a:sym typeface="DM Sans"/>
              </a:rPr>
              <a:t>Ruta de Contracción (Encoder):</a:t>
            </a:r>
            <a:r>
              <a:rPr b="0" i="0" lang="en-US" sz="1350" u="none" cap="none" strike="noStrike">
                <a:solidFill>
                  <a:srgbClr val="334155"/>
                </a:solidFill>
                <a:latin typeface="DM Sans"/>
                <a:ea typeface="DM Sans"/>
                <a:cs typeface="DM Sans"/>
                <a:sym typeface="DM Sans"/>
              </a:rPr>
              <a:t> Encargada de extraer características semánticas jerárquicas y contextuales complejas.</a:t>
            </a:r>
            <a:endParaRPr/>
          </a:p>
        </p:txBody>
      </p:sp>
      <p:sp>
        <p:nvSpPr>
          <p:cNvPr id="147" name="Google Shape;147;p18"/>
          <p:cNvSpPr txBox="1"/>
          <p:nvPr/>
        </p:nvSpPr>
        <p:spPr>
          <a:xfrm>
            <a:off x="1000125" y="4643437"/>
            <a:ext cx="4857750"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DM Sans"/>
                <a:ea typeface="DM Sans"/>
                <a:cs typeface="DM Sans"/>
                <a:sym typeface="DM Sans"/>
              </a:rPr>
              <a:t>Ruta de Expansión (Decoder):</a:t>
            </a:r>
            <a:r>
              <a:rPr b="0" i="0" lang="en-US" sz="1350" u="none" cap="none" strike="noStrike">
                <a:solidFill>
                  <a:srgbClr val="334155"/>
                </a:solidFill>
                <a:latin typeface="DM Sans"/>
                <a:ea typeface="DM Sans"/>
                <a:cs typeface="DM Sans"/>
                <a:sym typeface="DM Sans"/>
              </a:rPr>
              <a:t> Proyecta la información semántica a la resolución espacial nativa.</a:t>
            </a:r>
            <a:endParaRPr/>
          </a:p>
        </p:txBody>
      </p:sp>
      <p:pic>
        <p:nvPicPr>
          <p:cNvPr descr="image.png" id="148" name="Google Shape;148;p18"/>
          <p:cNvPicPr preferRelativeResize="0"/>
          <p:nvPr/>
        </p:nvPicPr>
        <p:blipFill rotWithShape="1">
          <a:blip r:embed="rId5">
            <a:alphaModFix/>
          </a:blip>
          <a:srcRect b="0" l="0" r="0" t="0"/>
          <a:stretch/>
        </p:blipFill>
        <p:spPr>
          <a:xfrm>
            <a:off x="619125" y="3671887"/>
            <a:ext cx="257175" cy="247650"/>
          </a:xfrm>
          <a:prstGeom prst="rect">
            <a:avLst/>
          </a:prstGeom>
          <a:noFill/>
          <a:ln>
            <a:noFill/>
          </a:ln>
        </p:spPr>
      </p:pic>
      <p:pic>
        <p:nvPicPr>
          <p:cNvPr descr="image.png" id="149" name="Google Shape;149;p18"/>
          <p:cNvPicPr preferRelativeResize="0"/>
          <p:nvPr/>
        </p:nvPicPr>
        <p:blipFill rotWithShape="1">
          <a:blip r:embed="rId6">
            <a:alphaModFix/>
          </a:blip>
          <a:srcRect b="0" l="0" r="0" t="0"/>
          <a:stretch/>
        </p:blipFill>
        <p:spPr>
          <a:xfrm>
            <a:off x="619125" y="4652962"/>
            <a:ext cx="257175" cy="247650"/>
          </a:xfrm>
          <a:prstGeom prst="rect">
            <a:avLst/>
          </a:prstGeom>
          <a:noFill/>
          <a:ln>
            <a:noFill/>
          </a:ln>
        </p:spPr>
      </p:pic>
      <p:sp>
        <p:nvSpPr>
          <p:cNvPr id="150" name="Google Shape;150;p18"/>
          <p:cNvSpPr txBox="1"/>
          <p:nvPr/>
        </p:nvSpPr>
        <p:spPr>
          <a:xfrm>
            <a:off x="762000" y="571500"/>
            <a:ext cx="9801225"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03366"/>
                </a:solidFill>
                <a:latin typeface="Merriweather"/>
                <a:ea typeface="Merriweather"/>
                <a:cs typeface="Merriweather"/>
                <a:sym typeface="Merriweather"/>
              </a:rPr>
              <a:t>U-Net: El Estándar de Oro</a:t>
            </a:r>
            <a:endParaRPr/>
          </a:p>
        </p:txBody>
      </p:sp>
      <p:sp>
        <p:nvSpPr>
          <p:cNvPr id="151" name="Google Shape;151;p18"/>
          <p:cNvSpPr/>
          <p:nvPr/>
        </p:nvSpPr>
        <p:spPr>
          <a:xfrm>
            <a:off x="571500" y="571500"/>
            <a:ext cx="76200" cy="447675"/>
          </a:xfrm>
          <a:prstGeom prst="rect">
            <a:avLst/>
          </a:prstGeom>
          <a:solidFill>
            <a:srgbClr val="11CA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52" name="Google Shape;152;p18"/>
          <p:cNvPicPr preferRelativeResize="0"/>
          <p:nvPr/>
        </p:nvPicPr>
        <p:blipFill>
          <a:blip r:embed="rId7">
            <a:alphaModFix/>
          </a:blip>
          <a:stretch>
            <a:fillRect/>
          </a:stretch>
        </p:blipFill>
        <p:spPr>
          <a:xfrm>
            <a:off x="6061950" y="1877187"/>
            <a:ext cx="5830749" cy="38846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AF1"/>
        </a:solidFill>
      </p:bgPr>
    </p:bg>
    <p:spTree>
      <p:nvGrpSpPr>
        <p:cNvPr id="156" name="Shape 156"/>
        <p:cNvGrpSpPr/>
        <p:nvPr/>
      </p:nvGrpSpPr>
      <p:grpSpPr>
        <a:xfrm>
          <a:off x="0" y="0"/>
          <a:ext cx="0" cy="0"/>
          <a:chOff x="0" y="0"/>
          <a:chExt cx="0" cy="0"/>
        </a:xfrm>
      </p:grpSpPr>
      <p:pic>
        <p:nvPicPr>
          <p:cNvPr descr="image.png" id="157" name="Google Shape;157;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8" name="Google Shape;158;p19"/>
          <p:cNvPicPr preferRelativeResize="0"/>
          <p:nvPr/>
        </p:nvPicPr>
        <p:blipFill rotWithShape="1">
          <a:blip r:embed="rId4">
            <a:alphaModFix/>
          </a:blip>
          <a:srcRect b="0" l="0" r="0" t="0"/>
          <a:stretch/>
        </p:blipFill>
        <p:spPr>
          <a:xfrm>
            <a:off x="571500" y="2314575"/>
            <a:ext cx="5286375" cy="3009900"/>
          </a:xfrm>
          <a:prstGeom prst="rect">
            <a:avLst/>
          </a:prstGeom>
          <a:noFill/>
          <a:ln>
            <a:noFill/>
          </a:ln>
        </p:spPr>
      </p:pic>
      <p:pic>
        <p:nvPicPr>
          <p:cNvPr descr="image.png" id="159" name="Google Shape;159;p19"/>
          <p:cNvPicPr preferRelativeResize="0"/>
          <p:nvPr/>
        </p:nvPicPr>
        <p:blipFill rotWithShape="1">
          <a:blip r:embed="rId5">
            <a:alphaModFix/>
          </a:blip>
          <a:srcRect b="0" l="0" r="0" t="0"/>
          <a:stretch/>
        </p:blipFill>
        <p:spPr>
          <a:xfrm>
            <a:off x="6334125" y="2314575"/>
            <a:ext cx="5286375" cy="3009900"/>
          </a:xfrm>
          <a:prstGeom prst="rect">
            <a:avLst/>
          </a:prstGeom>
          <a:noFill/>
          <a:ln>
            <a:noFill/>
          </a:ln>
        </p:spPr>
      </p:pic>
      <p:sp>
        <p:nvSpPr>
          <p:cNvPr id="160" name="Google Shape;160;p19"/>
          <p:cNvSpPr txBox="1"/>
          <p:nvPr/>
        </p:nvSpPr>
        <p:spPr>
          <a:xfrm>
            <a:off x="866775" y="2609850"/>
            <a:ext cx="4930616"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03366"/>
                </a:solidFill>
                <a:latin typeface="Merriweather"/>
                <a:ea typeface="Merriweather"/>
                <a:cs typeface="Merriweather"/>
                <a:sym typeface="Merriweather"/>
              </a:rPr>
              <a:t>Extracción y Reducción</a:t>
            </a:r>
            <a:endParaRPr/>
          </a:p>
        </p:txBody>
      </p:sp>
      <p:sp>
        <p:nvSpPr>
          <p:cNvPr id="161" name="Google Shape;161;p19"/>
          <p:cNvSpPr txBox="1"/>
          <p:nvPr/>
        </p:nvSpPr>
        <p:spPr>
          <a:xfrm>
            <a:off x="866775" y="3038475"/>
            <a:ext cx="469582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DM Sans"/>
                <a:ea typeface="DM Sans"/>
                <a:cs typeface="DM Sans"/>
                <a:sym typeface="DM Sans"/>
              </a:rPr>
              <a:t>El objetivo del Encoder es comprender "qué" se encuentra en la imagen a través de la contracción espacial.</a:t>
            </a:r>
            <a:endParaRPr/>
          </a:p>
        </p:txBody>
      </p:sp>
      <p:sp>
        <p:nvSpPr>
          <p:cNvPr id="162" name="Google Shape;162;p19"/>
          <p:cNvSpPr txBox="1"/>
          <p:nvPr/>
        </p:nvSpPr>
        <p:spPr>
          <a:xfrm>
            <a:off x="866775" y="3648075"/>
            <a:ext cx="4695900" cy="1143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DM Sans"/>
                <a:ea typeface="DM Sans"/>
                <a:cs typeface="DM Sans"/>
                <a:sym typeface="DM Sans"/>
              </a:rPr>
              <a:t>Cada uno de los 4 niveles de contracción aplica un bloque de doble convolución </a:t>
            </a:r>
            <a:r>
              <a:rPr b="0" i="0" lang="en-US" sz="1350" u="none" cap="none" strike="noStrike">
                <a:solidFill>
                  <a:srgbClr val="334155"/>
                </a:solidFill>
                <a:latin typeface="DM Sans"/>
                <a:ea typeface="DM Sans"/>
                <a:cs typeface="DM Sans"/>
                <a:sym typeface="DM Sans"/>
              </a:rPr>
              <a:t>de </a:t>
            </a:r>
            <a:r>
              <a:rPr lang="en-US" sz="1350">
                <a:solidFill>
                  <a:srgbClr val="334155"/>
                </a:solidFill>
                <a:latin typeface="DM Sans"/>
                <a:ea typeface="DM Sans"/>
                <a:cs typeface="DM Sans"/>
                <a:sym typeface="DM Sans"/>
              </a:rPr>
              <a:t>3x3</a:t>
            </a:r>
            <a:r>
              <a:rPr b="0" i="0" lang="en-US" sz="1350" u="none" cap="none" strike="noStrike">
                <a:solidFill>
                  <a:srgbClr val="334155"/>
                </a:solidFill>
                <a:latin typeface="DM Sans"/>
                <a:ea typeface="DM Sans"/>
                <a:cs typeface="DM Sans"/>
                <a:sym typeface="DM Sans"/>
              </a:rPr>
              <a:t>, seguido de normalización por lotes (Batch Normalization) y funciones de activación no lineales ReLU.</a:t>
            </a:r>
            <a:endParaRPr/>
          </a:p>
        </p:txBody>
      </p:sp>
      <p:sp>
        <p:nvSpPr>
          <p:cNvPr id="163" name="Google Shape;163;p19"/>
          <p:cNvSpPr txBox="1"/>
          <p:nvPr/>
        </p:nvSpPr>
        <p:spPr>
          <a:xfrm>
            <a:off x="6629400" y="2609850"/>
            <a:ext cx="4930616"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03366"/>
                </a:solidFill>
                <a:latin typeface="Merriweather"/>
                <a:ea typeface="Merriweather"/>
                <a:cs typeface="Merriweather"/>
                <a:sym typeface="Merriweather"/>
              </a:rPr>
              <a:t>Submuestreo Convolucional</a:t>
            </a:r>
            <a:endParaRPr/>
          </a:p>
        </p:txBody>
      </p:sp>
      <p:sp>
        <p:nvSpPr>
          <p:cNvPr id="164" name="Google Shape;164;p19"/>
          <p:cNvSpPr txBox="1"/>
          <p:nvPr/>
        </p:nvSpPr>
        <p:spPr>
          <a:xfrm>
            <a:off x="6629400" y="3038475"/>
            <a:ext cx="4695900" cy="519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DM Sans"/>
                <a:ea typeface="DM Sans"/>
                <a:cs typeface="DM Sans"/>
                <a:sym typeface="DM Sans"/>
              </a:rPr>
              <a:t>Se aplica una capa de Max Pooling de </a:t>
            </a:r>
            <a:r>
              <a:rPr lang="en-US" sz="1350">
                <a:solidFill>
                  <a:srgbClr val="334155"/>
                </a:solidFill>
                <a:latin typeface="DM Sans"/>
                <a:ea typeface="DM Sans"/>
                <a:cs typeface="DM Sans"/>
                <a:sym typeface="DM Sans"/>
              </a:rPr>
              <a:t>2x2</a:t>
            </a:r>
            <a:r>
              <a:rPr b="0" i="0" lang="en-US" sz="1350" u="none" cap="none" strike="noStrike">
                <a:solidFill>
                  <a:srgbClr val="334155"/>
                </a:solidFill>
                <a:latin typeface="DM Sans"/>
                <a:ea typeface="DM Sans"/>
                <a:cs typeface="DM Sans"/>
                <a:sym typeface="DM Sans"/>
              </a:rPr>
              <a:t> con zancada (stride) de 2 al final de cada bloque jerárquico.</a:t>
            </a:r>
            <a:endParaRPr/>
          </a:p>
        </p:txBody>
      </p:sp>
      <p:sp>
        <p:nvSpPr>
          <p:cNvPr id="165" name="Google Shape;165;p19"/>
          <p:cNvSpPr txBox="1"/>
          <p:nvPr/>
        </p:nvSpPr>
        <p:spPr>
          <a:xfrm>
            <a:off x="6629400" y="3648075"/>
            <a:ext cx="4695900" cy="1143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DM Sans"/>
                <a:ea typeface="DM Sans"/>
                <a:cs typeface="DM Sans"/>
                <a:sym typeface="DM Sans"/>
              </a:rPr>
              <a:t>Este paso reduce la dimensión espacial a la mitad en cada nivel, mientras duplica de forma simétrica el número de canales de características (</a:t>
            </a:r>
            <a:r>
              <a:rPr lang="en-US" sz="1350">
                <a:solidFill>
                  <a:srgbClr val="334155"/>
                </a:solidFill>
                <a:latin typeface="DM Sans"/>
                <a:ea typeface="DM Sans"/>
                <a:cs typeface="DM Sans"/>
                <a:sym typeface="DM Sans"/>
              </a:rPr>
              <a:t>1-&gt;64-&gt;128-&gt;256-&gt;512</a:t>
            </a:r>
            <a:r>
              <a:rPr b="0" i="0" lang="en-US" sz="1350" u="none" cap="none" strike="noStrike">
                <a:solidFill>
                  <a:srgbClr val="334155"/>
                </a:solidFill>
                <a:latin typeface="DM Sans"/>
                <a:ea typeface="DM Sans"/>
                <a:cs typeface="DM Sans"/>
                <a:sym typeface="DM Sans"/>
              </a:rPr>
              <a:t>), capturando patrones espaciales macro.</a:t>
            </a:r>
            <a:endParaRPr/>
          </a:p>
        </p:txBody>
      </p:sp>
      <p:sp>
        <p:nvSpPr>
          <p:cNvPr id="166" name="Google Shape;166;p19"/>
          <p:cNvSpPr txBox="1"/>
          <p:nvPr/>
        </p:nvSpPr>
        <p:spPr>
          <a:xfrm>
            <a:off x="762000" y="571500"/>
            <a:ext cx="9801225"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03366"/>
                </a:solidFill>
                <a:latin typeface="Merriweather"/>
                <a:ea typeface="Merriweather"/>
                <a:cs typeface="Merriweather"/>
                <a:sym typeface="Merriweather"/>
              </a:rPr>
              <a:t>Ruta de Contracción (Encoder)</a:t>
            </a:r>
            <a:endParaRPr/>
          </a:p>
        </p:txBody>
      </p:sp>
      <p:sp>
        <p:nvSpPr>
          <p:cNvPr id="167" name="Google Shape;167;p19"/>
          <p:cNvSpPr/>
          <p:nvPr/>
        </p:nvSpPr>
        <p:spPr>
          <a:xfrm>
            <a:off x="571500" y="571500"/>
            <a:ext cx="76200" cy="447675"/>
          </a:xfrm>
          <a:prstGeom prst="rect">
            <a:avLst/>
          </a:prstGeom>
          <a:solidFill>
            <a:srgbClr val="11CA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AF1"/>
        </a:solidFill>
      </p:bgPr>
    </p:bg>
    <p:spTree>
      <p:nvGrpSpPr>
        <p:cNvPr id="171" name="Shape 171"/>
        <p:cNvGrpSpPr/>
        <p:nvPr/>
      </p:nvGrpSpPr>
      <p:grpSpPr>
        <a:xfrm>
          <a:off x="0" y="0"/>
          <a:ext cx="0" cy="0"/>
          <a:chOff x="0" y="0"/>
          <a:chExt cx="0" cy="0"/>
        </a:xfrm>
      </p:grpSpPr>
      <p:pic>
        <p:nvPicPr>
          <p:cNvPr descr="image.png" id="172" name="Google Shape;172;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3" name="Google Shape;173;p20"/>
          <p:cNvPicPr preferRelativeResize="0"/>
          <p:nvPr/>
        </p:nvPicPr>
        <p:blipFill rotWithShape="1">
          <a:blip r:embed="rId4">
            <a:alphaModFix/>
          </a:blip>
          <a:srcRect b="0" l="0" r="0" t="0"/>
          <a:stretch/>
        </p:blipFill>
        <p:spPr>
          <a:xfrm>
            <a:off x="571500" y="2443162"/>
            <a:ext cx="5286375" cy="2752725"/>
          </a:xfrm>
          <a:prstGeom prst="rect">
            <a:avLst/>
          </a:prstGeom>
          <a:noFill/>
          <a:ln>
            <a:noFill/>
          </a:ln>
        </p:spPr>
      </p:pic>
      <p:pic>
        <p:nvPicPr>
          <p:cNvPr descr="image.png" id="174" name="Google Shape;174;p20"/>
          <p:cNvPicPr preferRelativeResize="0"/>
          <p:nvPr/>
        </p:nvPicPr>
        <p:blipFill rotWithShape="1">
          <a:blip r:embed="rId5">
            <a:alphaModFix/>
          </a:blip>
          <a:srcRect b="0" l="0" r="0" t="0"/>
          <a:stretch/>
        </p:blipFill>
        <p:spPr>
          <a:xfrm>
            <a:off x="6334125" y="2443162"/>
            <a:ext cx="5286375" cy="2752725"/>
          </a:xfrm>
          <a:prstGeom prst="rect">
            <a:avLst/>
          </a:prstGeom>
          <a:noFill/>
          <a:ln>
            <a:noFill/>
          </a:ln>
        </p:spPr>
      </p:pic>
      <p:sp>
        <p:nvSpPr>
          <p:cNvPr id="175" name="Google Shape;175;p20"/>
          <p:cNvSpPr txBox="1"/>
          <p:nvPr/>
        </p:nvSpPr>
        <p:spPr>
          <a:xfrm>
            <a:off x="866775" y="2738437"/>
            <a:ext cx="4930616"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03366"/>
                </a:solidFill>
                <a:latin typeface="Merriweather"/>
                <a:ea typeface="Merriweather"/>
                <a:cs typeface="Merriweather"/>
                <a:sym typeface="Merriweather"/>
              </a:rPr>
              <a:t>Representación Latente</a:t>
            </a:r>
            <a:endParaRPr/>
          </a:p>
        </p:txBody>
      </p:sp>
      <p:sp>
        <p:nvSpPr>
          <p:cNvPr id="176" name="Google Shape;176;p20"/>
          <p:cNvSpPr txBox="1"/>
          <p:nvPr/>
        </p:nvSpPr>
        <p:spPr>
          <a:xfrm>
            <a:off x="866775" y="3167062"/>
            <a:ext cx="4695825" cy="7715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DM Sans"/>
                <a:ea typeface="DM Sans"/>
                <a:cs typeface="DM Sans"/>
                <a:sym typeface="DM Sans"/>
              </a:rPr>
              <a:t>Constituye la base central de la estructura en forma de "U" de la red. Conecta de forma directa los extremos más profundos del Encoder y Decoder.</a:t>
            </a:r>
            <a:endParaRPr/>
          </a:p>
        </p:txBody>
      </p:sp>
      <p:sp>
        <p:nvSpPr>
          <p:cNvPr id="177" name="Google Shape;177;p20"/>
          <p:cNvSpPr txBox="1"/>
          <p:nvPr/>
        </p:nvSpPr>
        <p:spPr>
          <a:xfrm>
            <a:off x="866775" y="4033837"/>
            <a:ext cx="4695900" cy="831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DM Sans"/>
                <a:ea typeface="DM Sans"/>
                <a:cs typeface="DM Sans"/>
                <a:sym typeface="DM Sans"/>
              </a:rPr>
              <a:t>En este bloque, las dimensiones espaciales de la matriz se reducen a su escala mínima (</a:t>
            </a:r>
            <a:r>
              <a:rPr lang="en-US" sz="1350">
                <a:solidFill>
                  <a:srgbClr val="334155"/>
                </a:solidFill>
                <a:latin typeface="DM Sans"/>
                <a:ea typeface="DM Sans"/>
                <a:cs typeface="DM Sans"/>
                <a:sym typeface="DM Sans"/>
              </a:rPr>
              <a:t>16x16</a:t>
            </a:r>
            <a:r>
              <a:rPr b="0" i="0" lang="en-US" sz="1350" u="none" cap="none" strike="noStrike">
                <a:solidFill>
                  <a:srgbClr val="334155"/>
                </a:solidFill>
                <a:latin typeface="DM Sans"/>
                <a:ea typeface="DM Sans"/>
                <a:cs typeface="DM Sans"/>
                <a:sym typeface="DM Sans"/>
              </a:rPr>
              <a:t> píxeles), forzando una alta densidad de compresión de información.</a:t>
            </a:r>
            <a:endParaRPr/>
          </a:p>
        </p:txBody>
      </p:sp>
      <p:sp>
        <p:nvSpPr>
          <p:cNvPr id="178" name="Google Shape;178;p20"/>
          <p:cNvSpPr txBox="1"/>
          <p:nvPr/>
        </p:nvSpPr>
        <p:spPr>
          <a:xfrm>
            <a:off x="6629400" y="2738437"/>
            <a:ext cx="4930616"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03366"/>
                </a:solidFill>
                <a:latin typeface="Merriweather"/>
                <a:ea typeface="Merriweather"/>
                <a:cs typeface="Merriweather"/>
                <a:sym typeface="Merriweather"/>
              </a:rPr>
              <a:t>Densidad Semántica Máxima</a:t>
            </a:r>
            <a:endParaRPr/>
          </a:p>
        </p:txBody>
      </p:sp>
      <p:sp>
        <p:nvSpPr>
          <p:cNvPr id="179" name="Google Shape;179;p20"/>
          <p:cNvSpPr txBox="1"/>
          <p:nvPr/>
        </p:nvSpPr>
        <p:spPr>
          <a:xfrm>
            <a:off x="6629400" y="3167062"/>
            <a:ext cx="4695900" cy="519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DM Sans"/>
                <a:ea typeface="DM Sans"/>
                <a:cs typeface="DM Sans"/>
                <a:sym typeface="DM Sans"/>
              </a:rPr>
              <a:t>Consiste en dos capas de convolución de </a:t>
            </a:r>
            <a:r>
              <a:rPr lang="en-US" sz="1350">
                <a:solidFill>
                  <a:srgbClr val="334155"/>
                </a:solidFill>
                <a:latin typeface="DM Sans"/>
                <a:ea typeface="DM Sans"/>
                <a:cs typeface="DM Sans"/>
                <a:sym typeface="DM Sans"/>
              </a:rPr>
              <a:t>3x3</a:t>
            </a:r>
            <a:r>
              <a:rPr b="0" i="0" lang="en-US" sz="1350" u="none" cap="none" strike="noStrike">
                <a:solidFill>
                  <a:srgbClr val="334155"/>
                </a:solidFill>
                <a:latin typeface="DM Sans"/>
                <a:ea typeface="DM Sans"/>
                <a:cs typeface="DM Sans"/>
                <a:sym typeface="DM Sans"/>
              </a:rPr>
              <a:t> con 1024 canales de características combinadas.</a:t>
            </a:r>
            <a:endParaRPr/>
          </a:p>
        </p:txBody>
      </p:sp>
      <p:sp>
        <p:nvSpPr>
          <p:cNvPr id="180" name="Google Shape;180;p20"/>
          <p:cNvSpPr txBox="1"/>
          <p:nvPr/>
        </p:nvSpPr>
        <p:spPr>
          <a:xfrm>
            <a:off x="6629400" y="3776662"/>
            <a:ext cx="4695825" cy="1028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DM Sans"/>
                <a:ea typeface="DM Sans"/>
                <a:cs typeface="DM Sans"/>
                <a:sym typeface="DM Sans"/>
              </a:rPr>
              <a:t>No se aplican operaciones de submuestreo adicionales. Su función ingenieril es codificar y sintetizar la geometría del nódulo tumoral en un vector latente ultra-abstracto antes de iniciar la reconstrucción.</a:t>
            </a:r>
            <a:endParaRPr/>
          </a:p>
        </p:txBody>
      </p:sp>
      <p:sp>
        <p:nvSpPr>
          <p:cNvPr id="181" name="Google Shape;181;p20"/>
          <p:cNvSpPr txBox="1"/>
          <p:nvPr/>
        </p:nvSpPr>
        <p:spPr>
          <a:xfrm>
            <a:off x="762000" y="571500"/>
            <a:ext cx="9801225"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03366"/>
                </a:solidFill>
                <a:latin typeface="Merriweather"/>
                <a:ea typeface="Merriweather"/>
                <a:cs typeface="Merriweather"/>
                <a:sym typeface="Merriweather"/>
              </a:rPr>
              <a:t>El Cuello de Botella (Bottleneck)</a:t>
            </a:r>
            <a:endParaRPr/>
          </a:p>
        </p:txBody>
      </p:sp>
      <p:sp>
        <p:nvSpPr>
          <p:cNvPr id="182" name="Google Shape;182;p20"/>
          <p:cNvSpPr/>
          <p:nvPr/>
        </p:nvSpPr>
        <p:spPr>
          <a:xfrm>
            <a:off x="571500" y="571500"/>
            <a:ext cx="76200" cy="447675"/>
          </a:xfrm>
          <a:prstGeom prst="rect">
            <a:avLst/>
          </a:prstGeom>
          <a:solidFill>
            <a:srgbClr val="11CA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AF1"/>
        </a:solidFill>
      </p:bgPr>
    </p:bg>
    <p:spTree>
      <p:nvGrpSpPr>
        <p:cNvPr id="186" name="Shape 186"/>
        <p:cNvGrpSpPr/>
        <p:nvPr/>
      </p:nvGrpSpPr>
      <p:grpSpPr>
        <a:xfrm>
          <a:off x="0" y="0"/>
          <a:ext cx="0" cy="0"/>
          <a:chOff x="0" y="0"/>
          <a:chExt cx="0" cy="0"/>
        </a:xfrm>
      </p:grpSpPr>
      <p:pic>
        <p:nvPicPr>
          <p:cNvPr descr="image.png" id="187" name="Google Shape;187;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88" name="Google Shape;188;p21"/>
          <p:cNvPicPr preferRelativeResize="0"/>
          <p:nvPr/>
        </p:nvPicPr>
        <p:blipFill rotWithShape="1">
          <a:blip r:embed="rId4">
            <a:alphaModFix/>
          </a:blip>
          <a:srcRect b="0" l="0" r="0" t="0"/>
          <a:stretch/>
        </p:blipFill>
        <p:spPr>
          <a:xfrm>
            <a:off x="571500" y="2314575"/>
            <a:ext cx="5286375" cy="3009900"/>
          </a:xfrm>
          <a:prstGeom prst="rect">
            <a:avLst/>
          </a:prstGeom>
          <a:noFill/>
          <a:ln>
            <a:noFill/>
          </a:ln>
        </p:spPr>
      </p:pic>
      <p:pic>
        <p:nvPicPr>
          <p:cNvPr descr="image.png" id="189" name="Google Shape;189;p21"/>
          <p:cNvPicPr preferRelativeResize="0"/>
          <p:nvPr/>
        </p:nvPicPr>
        <p:blipFill rotWithShape="1">
          <a:blip r:embed="rId5">
            <a:alphaModFix/>
          </a:blip>
          <a:srcRect b="0" l="0" r="0" t="0"/>
          <a:stretch/>
        </p:blipFill>
        <p:spPr>
          <a:xfrm>
            <a:off x="6334125" y="2314575"/>
            <a:ext cx="5286375" cy="3009900"/>
          </a:xfrm>
          <a:prstGeom prst="rect">
            <a:avLst/>
          </a:prstGeom>
          <a:noFill/>
          <a:ln>
            <a:noFill/>
          </a:ln>
        </p:spPr>
      </p:pic>
      <p:sp>
        <p:nvSpPr>
          <p:cNvPr id="190" name="Google Shape;190;p21"/>
          <p:cNvSpPr txBox="1"/>
          <p:nvPr/>
        </p:nvSpPr>
        <p:spPr>
          <a:xfrm>
            <a:off x="866775" y="2609850"/>
            <a:ext cx="4930616"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03366"/>
                </a:solidFill>
                <a:latin typeface="Merriweather"/>
                <a:ea typeface="Merriweather"/>
                <a:cs typeface="Merriweather"/>
                <a:sym typeface="Merriweather"/>
              </a:rPr>
              <a:t>Reconstrucción Espacial</a:t>
            </a:r>
            <a:endParaRPr/>
          </a:p>
        </p:txBody>
      </p:sp>
      <p:sp>
        <p:nvSpPr>
          <p:cNvPr id="191" name="Google Shape;191;p21"/>
          <p:cNvSpPr txBox="1"/>
          <p:nvPr/>
        </p:nvSpPr>
        <p:spPr>
          <a:xfrm>
            <a:off x="866775" y="3038475"/>
            <a:ext cx="469582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DM Sans"/>
                <a:ea typeface="DM Sans"/>
                <a:cs typeface="DM Sans"/>
                <a:sym typeface="DM Sans"/>
              </a:rPr>
              <a:t>El Decoder asume el rol de responder a la pregunta "dónde" se ubica la lesión dentro de la tomografía.</a:t>
            </a:r>
            <a:endParaRPr/>
          </a:p>
        </p:txBody>
      </p:sp>
      <p:sp>
        <p:nvSpPr>
          <p:cNvPr id="192" name="Google Shape;192;p21"/>
          <p:cNvSpPr txBox="1"/>
          <p:nvPr/>
        </p:nvSpPr>
        <p:spPr>
          <a:xfrm>
            <a:off x="866775" y="3648075"/>
            <a:ext cx="4695900" cy="1143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DM Sans"/>
                <a:ea typeface="DM Sans"/>
                <a:cs typeface="DM Sans"/>
                <a:sym typeface="DM Sans"/>
              </a:rPr>
              <a:t>Utiliza de manera sucesiva operaciones de up-sampling y convoluciones transpuestas de </a:t>
            </a:r>
            <a:r>
              <a:rPr lang="en-US" sz="1350">
                <a:solidFill>
                  <a:srgbClr val="334155"/>
                </a:solidFill>
                <a:latin typeface="DM Sans"/>
                <a:ea typeface="DM Sans"/>
                <a:cs typeface="DM Sans"/>
                <a:sym typeface="DM Sans"/>
              </a:rPr>
              <a:t>2x2. </a:t>
            </a:r>
            <a:r>
              <a:rPr b="0" i="0" lang="en-US" sz="1350" u="none" cap="none" strike="noStrike">
                <a:solidFill>
                  <a:srgbClr val="334155"/>
                </a:solidFill>
                <a:latin typeface="DM Sans"/>
                <a:ea typeface="DM Sans"/>
                <a:cs typeface="DM Sans"/>
                <a:sym typeface="DM Sans"/>
              </a:rPr>
              <a:t>Este proceso duplica la resolución espacial en cada paso, mientras reduce a la mitad el número de canales de mapas de características.</a:t>
            </a:r>
            <a:endParaRPr/>
          </a:p>
        </p:txBody>
      </p:sp>
      <p:sp>
        <p:nvSpPr>
          <p:cNvPr id="193" name="Google Shape;193;p21"/>
          <p:cNvSpPr txBox="1"/>
          <p:nvPr/>
        </p:nvSpPr>
        <p:spPr>
          <a:xfrm>
            <a:off x="6629400" y="2609850"/>
            <a:ext cx="4930616"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03366"/>
                </a:solidFill>
                <a:latin typeface="Merriweather"/>
                <a:ea typeface="Merriweather"/>
                <a:cs typeface="Merriweather"/>
                <a:sym typeface="Merriweather"/>
              </a:rPr>
              <a:t>Clasificación a Nivel de Píxel</a:t>
            </a:r>
            <a:endParaRPr/>
          </a:p>
        </p:txBody>
      </p:sp>
      <p:sp>
        <p:nvSpPr>
          <p:cNvPr id="194" name="Google Shape;194;p21"/>
          <p:cNvSpPr txBox="1"/>
          <p:nvPr/>
        </p:nvSpPr>
        <p:spPr>
          <a:xfrm>
            <a:off x="6629400" y="3038475"/>
            <a:ext cx="4695900" cy="519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DM Sans"/>
                <a:ea typeface="DM Sans"/>
                <a:cs typeface="DM Sans"/>
                <a:sym typeface="DM Sans"/>
              </a:rPr>
              <a:t>A través de convoluciones repetidas, el Decoder proyecta la información hasta su resolución nativa de </a:t>
            </a:r>
            <a:r>
              <a:rPr lang="en-US" sz="1350">
                <a:solidFill>
                  <a:srgbClr val="334155"/>
                </a:solidFill>
                <a:latin typeface="DM Sans"/>
                <a:ea typeface="DM Sans"/>
                <a:cs typeface="DM Sans"/>
                <a:sym typeface="DM Sans"/>
              </a:rPr>
              <a:t>256x256.</a:t>
            </a:r>
            <a:endParaRPr/>
          </a:p>
        </p:txBody>
      </p:sp>
      <p:sp>
        <p:nvSpPr>
          <p:cNvPr id="195" name="Google Shape;195;p21"/>
          <p:cNvSpPr txBox="1"/>
          <p:nvPr/>
        </p:nvSpPr>
        <p:spPr>
          <a:xfrm>
            <a:off x="6629400" y="3905250"/>
            <a:ext cx="4695900" cy="1143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DM Sans"/>
                <a:ea typeface="DM Sans"/>
                <a:cs typeface="DM Sans"/>
                <a:sym typeface="DM Sans"/>
              </a:rPr>
              <a:t>En la capa final, se implementa una convolución de </a:t>
            </a:r>
            <a:r>
              <a:rPr lang="en-US" sz="1350">
                <a:solidFill>
                  <a:srgbClr val="334155"/>
                </a:solidFill>
                <a:latin typeface="DM Sans"/>
                <a:ea typeface="DM Sans"/>
                <a:cs typeface="DM Sans"/>
                <a:sym typeface="DM Sans"/>
              </a:rPr>
              <a:t>1x1</a:t>
            </a:r>
            <a:r>
              <a:rPr b="0" i="0" lang="en-US" sz="1350" u="none" cap="none" strike="noStrike">
                <a:solidFill>
                  <a:srgbClr val="334155"/>
                </a:solidFill>
                <a:latin typeface="DM Sans"/>
                <a:ea typeface="DM Sans"/>
                <a:cs typeface="DM Sans"/>
                <a:sym typeface="DM Sans"/>
              </a:rPr>
              <a:t> acoplada a una función de activación sigmoide, permitiendo asignar una probabilidad binaria de tejido tumoral a cada píxel individual de la imagen de entrada.</a:t>
            </a:r>
            <a:endParaRPr/>
          </a:p>
        </p:txBody>
      </p:sp>
      <p:sp>
        <p:nvSpPr>
          <p:cNvPr id="196" name="Google Shape;196;p21"/>
          <p:cNvSpPr txBox="1"/>
          <p:nvPr/>
        </p:nvSpPr>
        <p:spPr>
          <a:xfrm>
            <a:off x="762000" y="571500"/>
            <a:ext cx="9801225"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03366"/>
                </a:solidFill>
                <a:latin typeface="Merriweather"/>
                <a:ea typeface="Merriweather"/>
                <a:cs typeface="Merriweather"/>
                <a:sym typeface="Merriweather"/>
              </a:rPr>
              <a:t>Ruta de Expansión (Decoder)</a:t>
            </a:r>
            <a:endParaRPr/>
          </a:p>
        </p:txBody>
      </p:sp>
      <p:sp>
        <p:nvSpPr>
          <p:cNvPr id="197" name="Google Shape;197;p21"/>
          <p:cNvSpPr/>
          <p:nvPr/>
        </p:nvSpPr>
        <p:spPr>
          <a:xfrm>
            <a:off x="571500" y="571500"/>
            <a:ext cx="76200" cy="447675"/>
          </a:xfrm>
          <a:prstGeom prst="rect">
            <a:avLst/>
          </a:prstGeom>
          <a:solidFill>
            <a:srgbClr val="11CA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AF1"/>
        </a:solidFill>
      </p:bgPr>
    </p:bg>
    <p:spTree>
      <p:nvGrpSpPr>
        <p:cNvPr id="201" name="Shape 201"/>
        <p:cNvGrpSpPr/>
        <p:nvPr/>
      </p:nvGrpSpPr>
      <p:grpSpPr>
        <a:xfrm>
          <a:off x="0" y="0"/>
          <a:ext cx="0" cy="0"/>
          <a:chOff x="0" y="0"/>
          <a:chExt cx="0" cy="0"/>
        </a:xfrm>
      </p:grpSpPr>
      <p:pic>
        <p:nvPicPr>
          <p:cNvPr descr="image.png" id="202" name="Google Shape;202;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3" name="Google Shape;203;p22"/>
          <p:cNvPicPr preferRelativeResize="0"/>
          <p:nvPr/>
        </p:nvPicPr>
        <p:blipFill rotWithShape="1">
          <a:blip r:embed="rId4">
            <a:alphaModFix/>
          </a:blip>
          <a:srcRect b="0" l="0" r="0" t="0"/>
          <a:stretch/>
        </p:blipFill>
        <p:spPr>
          <a:xfrm>
            <a:off x="571500" y="2257425"/>
            <a:ext cx="3492549" cy="3124200"/>
          </a:xfrm>
          <a:prstGeom prst="rect">
            <a:avLst/>
          </a:prstGeom>
          <a:noFill/>
          <a:ln>
            <a:noFill/>
          </a:ln>
        </p:spPr>
      </p:pic>
      <p:pic>
        <p:nvPicPr>
          <p:cNvPr descr="image.png" id="204" name="Google Shape;204;p22"/>
          <p:cNvPicPr preferRelativeResize="0"/>
          <p:nvPr/>
        </p:nvPicPr>
        <p:blipFill rotWithShape="1">
          <a:blip r:embed="rId5">
            <a:alphaModFix/>
          </a:blip>
          <a:srcRect b="0" l="0" r="0" t="0"/>
          <a:stretch/>
        </p:blipFill>
        <p:spPr>
          <a:xfrm>
            <a:off x="4349799" y="2257425"/>
            <a:ext cx="3492549" cy="3124200"/>
          </a:xfrm>
          <a:prstGeom prst="rect">
            <a:avLst/>
          </a:prstGeom>
          <a:noFill/>
          <a:ln>
            <a:noFill/>
          </a:ln>
        </p:spPr>
      </p:pic>
      <p:pic>
        <p:nvPicPr>
          <p:cNvPr descr="image.png" id="205" name="Google Shape;205;p22"/>
          <p:cNvPicPr preferRelativeResize="0"/>
          <p:nvPr/>
        </p:nvPicPr>
        <p:blipFill rotWithShape="1">
          <a:blip r:embed="rId6">
            <a:alphaModFix/>
          </a:blip>
          <a:srcRect b="0" l="0" r="0" t="0"/>
          <a:stretch/>
        </p:blipFill>
        <p:spPr>
          <a:xfrm>
            <a:off x="8128099" y="2257425"/>
            <a:ext cx="3492549" cy="3124200"/>
          </a:xfrm>
          <a:prstGeom prst="rect">
            <a:avLst/>
          </a:prstGeom>
          <a:noFill/>
          <a:ln>
            <a:noFill/>
          </a:ln>
        </p:spPr>
      </p:pic>
      <p:sp>
        <p:nvSpPr>
          <p:cNvPr id="206" name="Google Shape;206;p22"/>
          <p:cNvSpPr txBox="1"/>
          <p:nvPr/>
        </p:nvSpPr>
        <p:spPr>
          <a:xfrm>
            <a:off x="857250" y="3286125"/>
            <a:ext cx="3067102"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03366"/>
                </a:solidFill>
                <a:latin typeface="Merriweather"/>
                <a:ea typeface="Merriweather"/>
                <a:cs typeface="Merriweather"/>
                <a:sym typeface="Merriweather"/>
              </a:rPr>
              <a:t>Conexiones Directas</a:t>
            </a:r>
            <a:endParaRPr/>
          </a:p>
        </p:txBody>
      </p:sp>
      <p:sp>
        <p:nvSpPr>
          <p:cNvPr id="207" name="Google Shape;207;p22"/>
          <p:cNvSpPr txBox="1"/>
          <p:nvPr/>
        </p:nvSpPr>
        <p:spPr>
          <a:xfrm>
            <a:off x="857250" y="3714750"/>
            <a:ext cx="2921049" cy="12858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DM Sans"/>
                <a:ea typeface="DM Sans"/>
                <a:cs typeface="DM Sans"/>
                <a:sym typeface="DM Sans"/>
              </a:rPr>
              <a:t>Transfieren mapas de características de alta resolución del Encoder al Decoder directamente, sin transitar por el cuello de botella.</a:t>
            </a:r>
            <a:endParaRPr/>
          </a:p>
        </p:txBody>
      </p:sp>
      <p:sp>
        <p:nvSpPr>
          <p:cNvPr id="208" name="Google Shape;208;p22"/>
          <p:cNvSpPr txBox="1"/>
          <p:nvPr/>
        </p:nvSpPr>
        <p:spPr>
          <a:xfrm>
            <a:off x="4635549" y="3286125"/>
            <a:ext cx="3067102"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03366"/>
                </a:solidFill>
                <a:latin typeface="Merriweather"/>
                <a:ea typeface="Merriweather"/>
                <a:cs typeface="Merriweather"/>
                <a:sym typeface="Merriweather"/>
              </a:rPr>
              <a:t>Bordes Precisos</a:t>
            </a:r>
            <a:endParaRPr/>
          </a:p>
        </p:txBody>
      </p:sp>
      <p:sp>
        <p:nvSpPr>
          <p:cNvPr id="209" name="Google Shape;209;p22"/>
          <p:cNvSpPr txBox="1"/>
          <p:nvPr/>
        </p:nvSpPr>
        <p:spPr>
          <a:xfrm>
            <a:off x="4635549" y="3714750"/>
            <a:ext cx="2921049" cy="12858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DM Sans"/>
                <a:ea typeface="DM Sans"/>
                <a:cs typeface="DM Sans"/>
                <a:sym typeface="DM Sans"/>
              </a:rPr>
              <a:t>Compensan y recuperan la pérdida irremediable de información espacial de alta frecuencia provocada por las capas de Max Pooling.</a:t>
            </a:r>
            <a:endParaRPr/>
          </a:p>
        </p:txBody>
      </p:sp>
      <p:sp>
        <p:nvSpPr>
          <p:cNvPr id="210" name="Google Shape;210;p22"/>
          <p:cNvSpPr txBox="1"/>
          <p:nvPr/>
        </p:nvSpPr>
        <p:spPr>
          <a:xfrm>
            <a:off x="8413849" y="3286125"/>
            <a:ext cx="3067102"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03366"/>
                </a:solidFill>
                <a:latin typeface="Merriweather"/>
                <a:ea typeface="Merriweather"/>
                <a:cs typeface="Merriweather"/>
                <a:sym typeface="Merriweather"/>
              </a:rPr>
              <a:t>Delineación Fina</a:t>
            </a:r>
            <a:endParaRPr/>
          </a:p>
        </p:txBody>
      </p:sp>
      <p:sp>
        <p:nvSpPr>
          <p:cNvPr id="211" name="Google Shape;211;p22"/>
          <p:cNvSpPr txBox="1"/>
          <p:nvPr/>
        </p:nvSpPr>
        <p:spPr>
          <a:xfrm>
            <a:off x="8413849" y="3714750"/>
            <a:ext cx="2921049" cy="1028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DM Sans"/>
                <a:ea typeface="DM Sans"/>
                <a:cs typeface="DM Sans"/>
                <a:sym typeface="DM Sans"/>
              </a:rPr>
              <a:t>Es un factor biológico clave para aislar y delinear con precisión micro-nódulos milimétricos frente al parénquima pulmonar sano.</a:t>
            </a:r>
            <a:endParaRPr/>
          </a:p>
        </p:txBody>
      </p:sp>
      <p:pic>
        <p:nvPicPr>
          <p:cNvPr descr="image.png" id="212" name="Google Shape;212;p22"/>
          <p:cNvPicPr preferRelativeResize="0"/>
          <p:nvPr/>
        </p:nvPicPr>
        <p:blipFill rotWithShape="1">
          <a:blip r:embed="rId7">
            <a:alphaModFix/>
          </a:blip>
          <a:srcRect b="0" l="0" r="0" t="0"/>
          <a:stretch/>
        </p:blipFill>
        <p:spPr>
          <a:xfrm>
            <a:off x="857250" y="2647950"/>
            <a:ext cx="476250" cy="381000"/>
          </a:xfrm>
          <a:prstGeom prst="rect">
            <a:avLst/>
          </a:prstGeom>
          <a:noFill/>
          <a:ln>
            <a:noFill/>
          </a:ln>
        </p:spPr>
      </p:pic>
      <p:pic>
        <p:nvPicPr>
          <p:cNvPr descr="image.png" id="213" name="Google Shape;213;p22"/>
          <p:cNvPicPr preferRelativeResize="0"/>
          <p:nvPr/>
        </p:nvPicPr>
        <p:blipFill rotWithShape="1">
          <a:blip r:embed="rId8">
            <a:alphaModFix/>
          </a:blip>
          <a:srcRect b="0" l="0" r="0" t="0"/>
          <a:stretch/>
        </p:blipFill>
        <p:spPr>
          <a:xfrm>
            <a:off x="4635549" y="2647950"/>
            <a:ext cx="381000" cy="381000"/>
          </a:xfrm>
          <a:prstGeom prst="rect">
            <a:avLst/>
          </a:prstGeom>
          <a:noFill/>
          <a:ln>
            <a:noFill/>
          </a:ln>
        </p:spPr>
      </p:pic>
      <p:pic>
        <p:nvPicPr>
          <p:cNvPr descr="image.png" id="214" name="Google Shape;214;p22"/>
          <p:cNvPicPr preferRelativeResize="0"/>
          <p:nvPr/>
        </p:nvPicPr>
        <p:blipFill rotWithShape="1">
          <a:blip r:embed="rId9">
            <a:alphaModFix/>
          </a:blip>
          <a:srcRect b="0" l="0" r="0" t="0"/>
          <a:stretch/>
        </p:blipFill>
        <p:spPr>
          <a:xfrm>
            <a:off x="8413849" y="2647950"/>
            <a:ext cx="381000" cy="381000"/>
          </a:xfrm>
          <a:prstGeom prst="rect">
            <a:avLst/>
          </a:prstGeom>
          <a:noFill/>
          <a:ln>
            <a:noFill/>
          </a:ln>
        </p:spPr>
      </p:pic>
      <p:sp>
        <p:nvSpPr>
          <p:cNvPr id="215" name="Google Shape;215;p22"/>
          <p:cNvSpPr txBox="1"/>
          <p:nvPr/>
        </p:nvSpPr>
        <p:spPr>
          <a:xfrm>
            <a:off x="762000" y="571500"/>
            <a:ext cx="9801225"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03366"/>
                </a:solidFill>
                <a:latin typeface="Merriweather"/>
                <a:ea typeface="Merriweather"/>
                <a:cs typeface="Merriweather"/>
                <a:sym typeface="Merriweather"/>
              </a:rPr>
              <a:t>Skip Connections y Resolución</a:t>
            </a:r>
            <a:endParaRPr/>
          </a:p>
        </p:txBody>
      </p:sp>
      <p:sp>
        <p:nvSpPr>
          <p:cNvPr id="216" name="Google Shape;216;p22"/>
          <p:cNvSpPr/>
          <p:nvPr/>
        </p:nvSpPr>
        <p:spPr>
          <a:xfrm>
            <a:off x="571500" y="571500"/>
            <a:ext cx="76200" cy="447675"/>
          </a:xfrm>
          <a:prstGeom prst="rect">
            <a:avLst/>
          </a:prstGeom>
          <a:solidFill>
            <a:srgbClr val="11CA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AF1"/>
        </a:solidFill>
      </p:bgPr>
    </p:bg>
    <p:spTree>
      <p:nvGrpSpPr>
        <p:cNvPr id="220" name="Shape 220"/>
        <p:cNvGrpSpPr/>
        <p:nvPr/>
      </p:nvGrpSpPr>
      <p:grpSpPr>
        <a:xfrm>
          <a:off x="0" y="0"/>
          <a:ext cx="0" cy="0"/>
          <a:chOff x="0" y="0"/>
          <a:chExt cx="0" cy="0"/>
        </a:xfrm>
      </p:grpSpPr>
      <p:pic>
        <p:nvPicPr>
          <p:cNvPr descr="image.png" id="221" name="Google Shape;221;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22" name="Google Shape;222;p23"/>
          <p:cNvPicPr preferRelativeResize="0"/>
          <p:nvPr/>
        </p:nvPicPr>
        <p:blipFill rotWithShape="1">
          <a:blip r:embed="rId4">
            <a:alphaModFix/>
          </a:blip>
          <a:srcRect b="0" l="0" r="0" t="0"/>
          <a:stretch/>
        </p:blipFill>
        <p:spPr>
          <a:xfrm>
            <a:off x="571500" y="2850951"/>
            <a:ext cx="11049000" cy="1470421"/>
          </a:xfrm>
          <a:prstGeom prst="rect">
            <a:avLst/>
          </a:prstGeom>
          <a:noFill/>
          <a:ln>
            <a:noFill/>
          </a:ln>
        </p:spPr>
      </p:pic>
      <p:sp>
        <p:nvSpPr>
          <p:cNvPr id="223" name="Google Shape;223;p23"/>
          <p:cNvSpPr txBox="1"/>
          <p:nvPr/>
        </p:nvSpPr>
        <p:spPr>
          <a:xfrm>
            <a:off x="571500" y="2098476"/>
            <a:ext cx="11049000" cy="519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DM Sans"/>
                <a:ea typeface="DM Sans"/>
                <a:cs typeface="DM Sans"/>
                <a:sym typeface="DM Sans"/>
              </a:rPr>
              <a:t>Para contrarrestar el desbalance biológico, se programó la pérdida matemática Dice Loss, centrada en el solapamiento geométrico de conjuntos:</a:t>
            </a:r>
            <a:endParaRPr/>
          </a:p>
        </p:txBody>
      </p:sp>
      <p:pic>
        <p:nvPicPr>
          <p:cNvPr descr="image.png" id="224" name="Google Shape;224;p23"/>
          <p:cNvPicPr preferRelativeResize="0"/>
          <p:nvPr/>
        </p:nvPicPr>
        <p:blipFill rotWithShape="1">
          <a:blip r:embed="rId5">
            <a:alphaModFix/>
          </a:blip>
          <a:srcRect b="0" l="0" r="0" t="0"/>
          <a:stretch/>
        </p:blipFill>
        <p:spPr>
          <a:xfrm>
            <a:off x="962025" y="3241476"/>
            <a:ext cx="10267950" cy="689371"/>
          </a:xfrm>
          <a:prstGeom prst="rect">
            <a:avLst/>
          </a:prstGeom>
          <a:noFill/>
          <a:ln>
            <a:noFill/>
          </a:ln>
        </p:spPr>
      </p:pic>
      <p:sp>
        <p:nvSpPr>
          <p:cNvPr id="225" name="Google Shape;225;p23"/>
          <p:cNvSpPr txBox="1"/>
          <p:nvPr/>
        </p:nvSpPr>
        <p:spPr>
          <a:xfrm>
            <a:off x="1000125" y="4607123"/>
            <a:ext cx="10620375" cy="2571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DM Sans"/>
                <a:ea typeface="DM Sans"/>
                <a:cs typeface="DM Sans"/>
                <a:sym typeface="DM Sans"/>
              </a:rPr>
              <a:t>Foco en Intersección:</a:t>
            </a:r>
            <a:r>
              <a:rPr b="0" i="0" lang="en-US" sz="1350" u="none" cap="none" strike="noStrike">
                <a:solidFill>
                  <a:srgbClr val="334155"/>
                </a:solidFill>
                <a:latin typeface="DM Sans"/>
                <a:ea typeface="DM Sans"/>
                <a:cs typeface="DM Sans"/>
                <a:sym typeface="DM Sans"/>
              </a:rPr>
              <a:t> Optimiza de forma directa la similitud espacial entre la máscara predicha y la referencia del radiólogo.</a:t>
            </a:r>
            <a:endParaRPr/>
          </a:p>
        </p:txBody>
      </p:sp>
      <p:sp>
        <p:nvSpPr>
          <p:cNvPr id="226" name="Google Shape;226;p23"/>
          <p:cNvSpPr txBox="1"/>
          <p:nvPr/>
        </p:nvSpPr>
        <p:spPr>
          <a:xfrm>
            <a:off x="1000125" y="5073848"/>
            <a:ext cx="10620375" cy="2571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DM Sans"/>
                <a:ea typeface="DM Sans"/>
                <a:cs typeface="DM Sans"/>
                <a:sym typeface="DM Sans"/>
              </a:rPr>
              <a:t>Inmunidad:</a:t>
            </a:r>
            <a:r>
              <a:rPr b="0" i="0" lang="en-US" sz="1350" u="none" cap="none" strike="noStrike">
                <a:solidFill>
                  <a:srgbClr val="334155"/>
                </a:solidFill>
                <a:latin typeface="DM Sans"/>
                <a:ea typeface="DM Sans"/>
                <a:cs typeface="DM Sans"/>
                <a:sym typeface="DM Sans"/>
              </a:rPr>
              <a:t> No se ve influenciada por la escala de la clase mayoritaria (fondo pulmonar sano).</a:t>
            </a:r>
            <a:endParaRPr/>
          </a:p>
        </p:txBody>
      </p:sp>
      <p:pic>
        <p:nvPicPr>
          <p:cNvPr descr="image.png" id="227" name="Google Shape;227;p23"/>
          <p:cNvPicPr preferRelativeResize="0"/>
          <p:nvPr/>
        </p:nvPicPr>
        <p:blipFill rotWithShape="1">
          <a:blip r:embed="rId6">
            <a:alphaModFix/>
          </a:blip>
          <a:srcRect b="0" l="0" r="0" t="0"/>
          <a:stretch/>
        </p:blipFill>
        <p:spPr>
          <a:xfrm>
            <a:off x="619125" y="4616648"/>
            <a:ext cx="228600" cy="247650"/>
          </a:xfrm>
          <a:prstGeom prst="rect">
            <a:avLst/>
          </a:prstGeom>
          <a:noFill/>
          <a:ln>
            <a:noFill/>
          </a:ln>
        </p:spPr>
      </p:pic>
      <p:pic>
        <p:nvPicPr>
          <p:cNvPr descr="image.png" id="228" name="Google Shape;228;p23"/>
          <p:cNvPicPr preferRelativeResize="0"/>
          <p:nvPr/>
        </p:nvPicPr>
        <p:blipFill rotWithShape="1">
          <a:blip r:embed="rId7">
            <a:alphaModFix/>
          </a:blip>
          <a:srcRect b="0" l="0" r="0" t="0"/>
          <a:stretch/>
        </p:blipFill>
        <p:spPr>
          <a:xfrm>
            <a:off x="619125" y="5083373"/>
            <a:ext cx="228600" cy="247650"/>
          </a:xfrm>
          <a:prstGeom prst="rect">
            <a:avLst/>
          </a:prstGeom>
          <a:noFill/>
          <a:ln>
            <a:noFill/>
          </a:ln>
        </p:spPr>
      </p:pic>
      <p:sp>
        <p:nvSpPr>
          <p:cNvPr id="229" name="Google Shape;229;p23"/>
          <p:cNvSpPr txBox="1"/>
          <p:nvPr/>
        </p:nvSpPr>
        <p:spPr>
          <a:xfrm>
            <a:off x="762000" y="571500"/>
            <a:ext cx="9801225"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03366"/>
                </a:solidFill>
                <a:latin typeface="Merriweather"/>
                <a:ea typeface="Merriweather"/>
                <a:cs typeface="Merriweather"/>
                <a:sym typeface="Merriweather"/>
              </a:rPr>
              <a:t>Optimización: Dice Loss</a:t>
            </a:r>
            <a:endParaRPr/>
          </a:p>
        </p:txBody>
      </p:sp>
      <p:sp>
        <p:nvSpPr>
          <p:cNvPr id="230" name="Google Shape;230;p23"/>
          <p:cNvSpPr/>
          <p:nvPr/>
        </p:nvSpPr>
        <p:spPr>
          <a:xfrm>
            <a:off x="571500" y="571500"/>
            <a:ext cx="76200" cy="447675"/>
          </a:xfrm>
          <a:prstGeom prst="rect">
            <a:avLst/>
          </a:prstGeom>
          <a:solidFill>
            <a:srgbClr val="11CA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AF1"/>
        </a:solidFill>
      </p:bgPr>
    </p:bg>
    <p:spTree>
      <p:nvGrpSpPr>
        <p:cNvPr id="234" name="Shape 234"/>
        <p:cNvGrpSpPr/>
        <p:nvPr/>
      </p:nvGrpSpPr>
      <p:grpSpPr>
        <a:xfrm>
          <a:off x="0" y="0"/>
          <a:ext cx="0" cy="0"/>
          <a:chOff x="0" y="0"/>
          <a:chExt cx="0" cy="0"/>
        </a:xfrm>
      </p:grpSpPr>
      <p:pic>
        <p:nvPicPr>
          <p:cNvPr descr="image.png" id="235" name="Google Shape;235;p2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36" name="Google Shape;236;p24"/>
          <p:cNvSpPr txBox="1"/>
          <p:nvPr/>
        </p:nvSpPr>
        <p:spPr>
          <a:xfrm>
            <a:off x="571500" y="5538787"/>
            <a:ext cx="11049000" cy="2286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1" lang="en-US" sz="1200" u="none" cap="none" strike="noStrike">
                <a:solidFill>
                  <a:srgbClr val="334155"/>
                </a:solidFill>
                <a:latin typeface="DM Sans"/>
                <a:ea typeface="DM Sans"/>
                <a:cs typeface="DM Sans"/>
                <a:sym typeface="DM Sans"/>
              </a:rPr>
              <a:t>Convergencia óptima lograda en 15 épocas. La cercanía matemática entre curvas descarta sobreajuste (overfitting).</a:t>
            </a:r>
            <a:endParaRPr/>
          </a:p>
        </p:txBody>
      </p:sp>
      <p:sp>
        <p:nvSpPr>
          <p:cNvPr id="237" name="Google Shape;237;p24"/>
          <p:cNvSpPr txBox="1"/>
          <p:nvPr/>
        </p:nvSpPr>
        <p:spPr>
          <a:xfrm>
            <a:off x="762000" y="571500"/>
            <a:ext cx="9801225"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03366"/>
                </a:solidFill>
                <a:latin typeface="Merriweather"/>
                <a:ea typeface="Merriweather"/>
                <a:cs typeface="Merriweather"/>
                <a:sym typeface="Merriweather"/>
              </a:rPr>
              <a:t>Dinámica de Entrenamiento</a:t>
            </a:r>
            <a:endParaRPr/>
          </a:p>
        </p:txBody>
      </p:sp>
      <p:sp>
        <p:nvSpPr>
          <p:cNvPr id="238" name="Google Shape;238;p24"/>
          <p:cNvSpPr/>
          <p:nvPr/>
        </p:nvSpPr>
        <p:spPr>
          <a:xfrm>
            <a:off x="571500" y="571500"/>
            <a:ext cx="76200" cy="447675"/>
          </a:xfrm>
          <a:prstGeom prst="rect">
            <a:avLst/>
          </a:prstGeom>
          <a:solidFill>
            <a:srgbClr val="11CA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239" name="Google Shape;239;p24"/>
          <p:cNvPicPr preferRelativeResize="0"/>
          <p:nvPr/>
        </p:nvPicPr>
        <p:blipFill>
          <a:blip r:embed="rId4">
            <a:alphaModFix/>
          </a:blip>
          <a:stretch>
            <a:fillRect/>
          </a:stretch>
        </p:blipFill>
        <p:spPr>
          <a:xfrm>
            <a:off x="2241387" y="1671825"/>
            <a:ext cx="7709225" cy="37071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AF1"/>
        </a:solidFill>
      </p:bgPr>
    </p:bg>
    <p:spTree>
      <p:nvGrpSpPr>
        <p:cNvPr id="243" name="Shape 243"/>
        <p:cNvGrpSpPr/>
        <p:nvPr/>
      </p:nvGrpSpPr>
      <p:grpSpPr>
        <a:xfrm>
          <a:off x="0" y="0"/>
          <a:ext cx="0" cy="0"/>
          <a:chOff x="0" y="0"/>
          <a:chExt cx="0" cy="0"/>
        </a:xfrm>
      </p:grpSpPr>
      <p:pic>
        <p:nvPicPr>
          <p:cNvPr descr="image.png" id="244" name="Google Shape;244;p2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45" name="Google Shape;245;p25"/>
          <p:cNvPicPr preferRelativeResize="0"/>
          <p:nvPr/>
        </p:nvPicPr>
        <p:blipFill rotWithShape="1">
          <a:blip r:embed="rId4">
            <a:alphaModFix/>
          </a:blip>
          <a:srcRect b="0" l="0" r="0" t="0"/>
          <a:stretch/>
        </p:blipFill>
        <p:spPr>
          <a:xfrm>
            <a:off x="571500" y="1352550"/>
            <a:ext cx="11049000" cy="4933950"/>
          </a:xfrm>
          <a:prstGeom prst="rect">
            <a:avLst/>
          </a:prstGeom>
          <a:noFill/>
          <a:ln>
            <a:noFill/>
          </a:ln>
        </p:spPr>
      </p:pic>
      <p:sp>
        <p:nvSpPr>
          <p:cNvPr id="246" name="Google Shape;246;p25"/>
          <p:cNvSpPr txBox="1"/>
          <p:nvPr/>
        </p:nvSpPr>
        <p:spPr>
          <a:xfrm>
            <a:off x="571500" y="4359771"/>
            <a:ext cx="11049000" cy="776882"/>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1" i="0" lang="en-US" sz="1275" u="none" cap="none" strike="noStrike">
                <a:solidFill>
                  <a:srgbClr val="334155"/>
                </a:solidFill>
                <a:latin typeface="DM Sans"/>
                <a:ea typeface="DM Sans"/>
                <a:cs typeface="DM Sans"/>
                <a:sym typeface="DM Sans"/>
              </a:rPr>
              <a:t>Hallazgo Clínico Clave:</a:t>
            </a:r>
            <a:r>
              <a:rPr b="0" i="0" lang="en-US" sz="1275" u="none" cap="none" strike="noStrike">
                <a:solidFill>
                  <a:srgbClr val="334155"/>
                </a:solidFill>
                <a:latin typeface="DM Sans"/>
                <a:ea typeface="DM Sans"/>
                <a:cs typeface="DM Sans"/>
                <a:sym typeface="DM Sans"/>
              </a:rPr>
              <a:t> La U-Net clásica superó el umbral médico requerido. La variante Attention no logró converger de forma óptima en el mismo horizonte debido al incremento exponencial de parámetros libres de sus compuertas de atención frente a recursos temporales y computacionales limitados.</a:t>
            </a:r>
            <a:endParaRPr/>
          </a:p>
        </p:txBody>
      </p:sp>
      <p:sp>
        <p:nvSpPr>
          <p:cNvPr id="247" name="Google Shape;247;p25"/>
          <p:cNvSpPr txBox="1"/>
          <p:nvPr/>
        </p:nvSpPr>
        <p:spPr>
          <a:xfrm>
            <a:off x="762000" y="571500"/>
            <a:ext cx="9801225"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03366"/>
                </a:solidFill>
                <a:latin typeface="Merriweather"/>
                <a:ea typeface="Merriweather"/>
                <a:cs typeface="Merriweather"/>
                <a:sym typeface="Merriweather"/>
              </a:rPr>
              <a:t>Resultados Cuantitativos</a:t>
            </a:r>
            <a:endParaRPr/>
          </a:p>
        </p:txBody>
      </p:sp>
      <p:sp>
        <p:nvSpPr>
          <p:cNvPr id="248" name="Google Shape;248;p25"/>
          <p:cNvSpPr/>
          <p:nvPr/>
        </p:nvSpPr>
        <p:spPr>
          <a:xfrm>
            <a:off x="571500" y="571500"/>
            <a:ext cx="76200" cy="447675"/>
          </a:xfrm>
          <a:prstGeom prst="rect">
            <a:avLst/>
          </a:prstGeom>
          <a:solidFill>
            <a:srgbClr val="11CA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AF1"/>
        </a:solidFill>
      </p:bgPr>
    </p:bg>
    <p:spTree>
      <p:nvGrpSpPr>
        <p:cNvPr id="252" name="Shape 252"/>
        <p:cNvGrpSpPr/>
        <p:nvPr/>
      </p:nvGrpSpPr>
      <p:grpSpPr>
        <a:xfrm>
          <a:off x="0" y="0"/>
          <a:ext cx="0" cy="0"/>
          <a:chOff x="0" y="0"/>
          <a:chExt cx="0" cy="0"/>
        </a:xfrm>
      </p:grpSpPr>
      <p:pic>
        <p:nvPicPr>
          <p:cNvPr descr="image.png" id="253" name="Google Shape;253;p2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54" name="Google Shape;254;p26"/>
          <p:cNvSpPr txBox="1"/>
          <p:nvPr/>
        </p:nvSpPr>
        <p:spPr>
          <a:xfrm>
            <a:off x="571500" y="2419350"/>
            <a:ext cx="5550693"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03366"/>
                </a:solidFill>
                <a:latin typeface="Merriweather"/>
                <a:ea typeface="Merriweather"/>
                <a:cs typeface="Merriweather"/>
                <a:sym typeface="Merriweather"/>
              </a:rPr>
              <a:t>Análisis de Datos y Desbalance</a:t>
            </a:r>
            <a:endParaRPr/>
          </a:p>
        </p:txBody>
      </p:sp>
      <p:sp>
        <p:nvSpPr>
          <p:cNvPr id="255" name="Google Shape;255;p26"/>
          <p:cNvSpPr txBox="1"/>
          <p:nvPr/>
        </p:nvSpPr>
        <p:spPr>
          <a:xfrm>
            <a:off x="571500" y="2847975"/>
            <a:ext cx="528637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DM Sans"/>
                <a:ea typeface="DM Sans"/>
                <a:cs typeface="DM Sans"/>
                <a:sym typeface="DM Sans"/>
              </a:rPr>
              <a:t>Visualización real de la carga y pipeline matricial dentro del entorno científico desarrollado en Python.</a:t>
            </a:r>
            <a:endParaRPr/>
          </a:p>
        </p:txBody>
      </p:sp>
      <p:sp>
        <p:nvSpPr>
          <p:cNvPr id="256" name="Google Shape;256;p26"/>
          <p:cNvSpPr txBox="1"/>
          <p:nvPr/>
        </p:nvSpPr>
        <p:spPr>
          <a:xfrm>
            <a:off x="1000125" y="3505200"/>
            <a:ext cx="4857750" cy="7810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DM Sans"/>
                <a:ea typeface="DM Sans"/>
                <a:cs typeface="DM Sans"/>
                <a:sym typeface="DM Sans"/>
              </a:rPr>
              <a:t>Caso de Estudio:</a:t>
            </a:r>
            <a:r>
              <a:rPr b="0" i="0" lang="en-US" sz="1350" u="none" cap="none" strike="noStrike">
                <a:solidFill>
                  <a:srgbClr val="334155"/>
                </a:solidFill>
                <a:latin typeface="DM Sans"/>
                <a:ea typeface="DM Sans"/>
                <a:cs typeface="DM Sans"/>
                <a:sym typeface="DM Sans"/>
              </a:rPr>
              <a:t> Representación del archivo 141.npy, donde la firma del tumor ocupa únicamente el </a:t>
            </a:r>
            <a:r>
              <a:rPr b="1" i="0" lang="en-US" sz="1350" u="none" cap="none" strike="noStrike">
                <a:solidFill>
                  <a:srgbClr val="334155"/>
                </a:solidFill>
                <a:latin typeface="DM Sans"/>
                <a:ea typeface="DM Sans"/>
                <a:cs typeface="DM Sans"/>
                <a:sym typeface="DM Sans"/>
              </a:rPr>
              <a:t>0.7370%</a:t>
            </a:r>
            <a:r>
              <a:rPr b="0" i="0" lang="en-US" sz="1350" u="none" cap="none" strike="noStrike">
                <a:solidFill>
                  <a:srgbClr val="334155"/>
                </a:solidFill>
                <a:latin typeface="DM Sans"/>
                <a:ea typeface="DM Sans"/>
                <a:cs typeface="DM Sans"/>
                <a:sym typeface="DM Sans"/>
              </a:rPr>
              <a:t> de los píxeles totales.</a:t>
            </a:r>
            <a:endParaRPr/>
          </a:p>
        </p:txBody>
      </p:sp>
      <p:sp>
        <p:nvSpPr>
          <p:cNvPr id="257" name="Google Shape;257;p26"/>
          <p:cNvSpPr txBox="1"/>
          <p:nvPr/>
        </p:nvSpPr>
        <p:spPr>
          <a:xfrm>
            <a:off x="1000125" y="4495800"/>
            <a:ext cx="4857750"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DM Sans"/>
                <a:ea typeface="DM Sans"/>
                <a:cs typeface="DM Sans"/>
                <a:sym typeface="DM Sans"/>
              </a:rPr>
              <a:t>Correlación Espacial:</a:t>
            </a:r>
            <a:r>
              <a:rPr b="0" i="0" lang="en-US" sz="1350" u="none" cap="none" strike="noStrike">
                <a:solidFill>
                  <a:srgbClr val="334155"/>
                </a:solidFill>
                <a:latin typeface="DM Sans"/>
                <a:ea typeface="DM Sans"/>
                <a:cs typeface="DM Sans"/>
                <a:sym typeface="DM Sans"/>
              </a:rPr>
              <a:t> El modelo logra predecir y ajustar de forma robusta nódulos pulmonares de escalas milimétricas.</a:t>
            </a:r>
            <a:endParaRPr/>
          </a:p>
        </p:txBody>
      </p:sp>
      <p:pic>
        <p:nvPicPr>
          <p:cNvPr descr="image.png" id="258" name="Google Shape;258;p26"/>
          <p:cNvPicPr preferRelativeResize="0"/>
          <p:nvPr/>
        </p:nvPicPr>
        <p:blipFill rotWithShape="1">
          <a:blip r:embed="rId4">
            <a:alphaModFix/>
          </a:blip>
          <a:srcRect b="0" l="0" r="0" t="0"/>
          <a:stretch/>
        </p:blipFill>
        <p:spPr>
          <a:xfrm>
            <a:off x="619125" y="3514725"/>
            <a:ext cx="171450" cy="247650"/>
          </a:xfrm>
          <a:prstGeom prst="rect">
            <a:avLst/>
          </a:prstGeom>
          <a:noFill/>
          <a:ln>
            <a:noFill/>
          </a:ln>
        </p:spPr>
      </p:pic>
      <p:pic>
        <p:nvPicPr>
          <p:cNvPr descr="image.png" id="259" name="Google Shape;259;p26"/>
          <p:cNvPicPr preferRelativeResize="0"/>
          <p:nvPr/>
        </p:nvPicPr>
        <p:blipFill rotWithShape="1">
          <a:blip r:embed="rId5">
            <a:alphaModFix/>
          </a:blip>
          <a:srcRect b="0" l="0" r="0" t="0"/>
          <a:stretch/>
        </p:blipFill>
        <p:spPr>
          <a:xfrm>
            <a:off x="619125" y="4505325"/>
            <a:ext cx="228600" cy="247650"/>
          </a:xfrm>
          <a:prstGeom prst="rect">
            <a:avLst/>
          </a:prstGeom>
          <a:noFill/>
          <a:ln>
            <a:noFill/>
          </a:ln>
        </p:spPr>
      </p:pic>
      <p:sp>
        <p:nvSpPr>
          <p:cNvPr id="260" name="Google Shape;260;p26"/>
          <p:cNvSpPr txBox="1"/>
          <p:nvPr/>
        </p:nvSpPr>
        <p:spPr>
          <a:xfrm>
            <a:off x="762000" y="571500"/>
            <a:ext cx="9801225"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03366"/>
                </a:solidFill>
                <a:latin typeface="Merriweather"/>
                <a:ea typeface="Merriweather"/>
                <a:cs typeface="Merriweather"/>
                <a:sym typeface="Merriweather"/>
              </a:rPr>
              <a:t>Visualización del Dataset (Caso Real)</a:t>
            </a:r>
            <a:endParaRPr/>
          </a:p>
        </p:txBody>
      </p:sp>
      <p:sp>
        <p:nvSpPr>
          <p:cNvPr id="261" name="Google Shape;261;p26"/>
          <p:cNvSpPr/>
          <p:nvPr/>
        </p:nvSpPr>
        <p:spPr>
          <a:xfrm>
            <a:off x="571500" y="571500"/>
            <a:ext cx="76200" cy="447675"/>
          </a:xfrm>
          <a:prstGeom prst="rect">
            <a:avLst/>
          </a:prstGeom>
          <a:solidFill>
            <a:srgbClr val="11CA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262" name="Google Shape;262;p26"/>
          <p:cNvPicPr preferRelativeResize="0"/>
          <p:nvPr/>
        </p:nvPicPr>
        <p:blipFill>
          <a:blip r:embed="rId6">
            <a:alphaModFix/>
          </a:blip>
          <a:stretch>
            <a:fillRect/>
          </a:stretch>
        </p:blipFill>
        <p:spPr>
          <a:xfrm>
            <a:off x="5857875" y="2603733"/>
            <a:ext cx="5995677" cy="247906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AF1"/>
        </a:solidFill>
      </p:bgPr>
    </p:bg>
    <p:spTree>
      <p:nvGrpSpPr>
        <p:cNvPr id="266" name="Shape 266"/>
        <p:cNvGrpSpPr/>
        <p:nvPr/>
      </p:nvGrpSpPr>
      <p:grpSpPr>
        <a:xfrm>
          <a:off x="0" y="0"/>
          <a:ext cx="0" cy="0"/>
          <a:chOff x="0" y="0"/>
          <a:chExt cx="0" cy="0"/>
        </a:xfrm>
      </p:grpSpPr>
      <p:pic>
        <p:nvPicPr>
          <p:cNvPr descr="image.png" id="267" name="Google Shape;267;p2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68" name="Google Shape;268;p27"/>
          <p:cNvSpPr txBox="1"/>
          <p:nvPr/>
        </p:nvSpPr>
        <p:spPr>
          <a:xfrm>
            <a:off x="1000125" y="2371725"/>
            <a:ext cx="1062037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DM Sans"/>
                <a:ea typeface="DM Sans"/>
                <a:cs typeface="DM Sans"/>
                <a:sym typeface="DM Sans"/>
              </a:rPr>
              <a:t>Viabilidad Clínica:</a:t>
            </a:r>
            <a:r>
              <a:rPr b="0" i="0" lang="en-US" sz="1350" u="none" cap="none" strike="noStrike">
                <a:solidFill>
                  <a:srgbClr val="334155"/>
                </a:solidFill>
                <a:latin typeface="DM Sans"/>
                <a:ea typeface="DM Sans"/>
                <a:cs typeface="DM Sans"/>
                <a:sym typeface="DM Sans"/>
              </a:rPr>
              <a:t> El modelo clásico propuesto es clínicamente aceptable, superando de forma robusta la meta de coeficiente Dice del 80%.</a:t>
            </a:r>
            <a:endParaRPr/>
          </a:p>
        </p:txBody>
      </p:sp>
      <p:sp>
        <p:nvSpPr>
          <p:cNvPr id="269" name="Google Shape;269;p27"/>
          <p:cNvSpPr txBox="1"/>
          <p:nvPr/>
        </p:nvSpPr>
        <p:spPr>
          <a:xfrm>
            <a:off x="1000125" y="3095625"/>
            <a:ext cx="1062037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DM Sans"/>
                <a:ea typeface="DM Sans"/>
                <a:cs typeface="DM Sans"/>
                <a:sym typeface="DM Sans"/>
              </a:rPr>
              <a:t>Eficiencia Computacional:</a:t>
            </a:r>
            <a:r>
              <a:rPr b="0" i="0" lang="en-US" sz="1350" u="none" cap="none" strike="noStrike">
                <a:solidFill>
                  <a:srgbClr val="334155"/>
                </a:solidFill>
                <a:latin typeface="DM Sans"/>
                <a:ea typeface="DM Sans"/>
                <a:cs typeface="DM Sans"/>
                <a:sym typeface="DM Sans"/>
              </a:rPr>
              <a:t> La optimización del modelo U-Net base resulta óptima bajo limitaciones operacionales de hardware y tiempo.</a:t>
            </a:r>
            <a:endParaRPr/>
          </a:p>
        </p:txBody>
      </p:sp>
      <p:sp>
        <p:nvSpPr>
          <p:cNvPr id="270" name="Google Shape;270;p27"/>
          <p:cNvSpPr txBox="1"/>
          <p:nvPr/>
        </p:nvSpPr>
        <p:spPr>
          <a:xfrm>
            <a:off x="1000125" y="3819525"/>
            <a:ext cx="1062037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DM Sans"/>
                <a:ea typeface="DM Sans"/>
                <a:cs typeface="DM Sans"/>
                <a:sym typeface="DM Sans"/>
              </a:rPr>
              <a:t>Trabajo Futuro - 3D U-Net:</a:t>
            </a:r>
            <a:r>
              <a:rPr b="0" i="0" lang="en-US" sz="1350" u="none" cap="none" strike="noStrike">
                <a:solidFill>
                  <a:srgbClr val="334155"/>
                </a:solidFill>
                <a:latin typeface="DM Sans"/>
                <a:ea typeface="DM Sans"/>
                <a:cs typeface="DM Sans"/>
                <a:sym typeface="DM Sans"/>
              </a:rPr>
              <a:t> Transición directa hacia convoluciones volumétricas tridimensionales para capturar la continuidad inter-corte axial.</a:t>
            </a:r>
            <a:endParaRPr/>
          </a:p>
        </p:txBody>
      </p:sp>
      <p:sp>
        <p:nvSpPr>
          <p:cNvPr id="271" name="Google Shape;271;p27"/>
          <p:cNvSpPr txBox="1"/>
          <p:nvPr/>
        </p:nvSpPr>
        <p:spPr>
          <a:xfrm>
            <a:off x="1000125" y="4543425"/>
            <a:ext cx="10620300" cy="519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DM Sans"/>
                <a:ea typeface="DM Sans"/>
                <a:cs typeface="DM Sans"/>
                <a:sym typeface="DM Sans"/>
              </a:rPr>
              <a:t>Data Argumentation Clínico:</a:t>
            </a:r>
            <a:r>
              <a:rPr b="0" i="0" lang="en-US" sz="1350" u="none" cap="none" strike="noStrike">
                <a:solidFill>
                  <a:srgbClr val="334155"/>
                </a:solidFill>
                <a:latin typeface="DM Sans"/>
                <a:ea typeface="DM Sans"/>
                <a:cs typeface="DM Sans"/>
                <a:sym typeface="DM Sans"/>
              </a:rPr>
              <a:t> Integración de transformaciones elásticas y espaciales para robustecer la red ante variaciones entre fabricantes de tomógrafos.</a:t>
            </a:r>
            <a:endParaRPr/>
          </a:p>
        </p:txBody>
      </p:sp>
      <p:pic>
        <p:nvPicPr>
          <p:cNvPr descr="image.png" id="272" name="Google Shape;272;p27"/>
          <p:cNvPicPr preferRelativeResize="0"/>
          <p:nvPr/>
        </p:nvPicPr>
        <p:blipFill rotWithShape="1">
          <a:blip r:embed="rId4">
            <a:alphaModFix/>
          </a:blip>
          <a:srcRect b="0" l="0" r="0" t="0"/>
          <a:stretch/>
        </p:blipFill>
        <p:spPr>
          <a:xfrm>
            <a:off x="619125" y="2381250"/>
            <a:ext cx="228600" cy="247650"/>
          </a:xfrm>
          <a:prstGeom prst="rect">
            <a:avLst/>
          </a:prstGeom>
          <a:noFill/>
          <a:ln>
            <a:noFill/>
          </a:ln>
        </p:spPr>
      </p:pic>
      <p:pic>
        <p:nvPicPr>
          <p:cNvPr descr="image.png" id="273" name="Google Shape;273;p27"/>
          <p:cNvPicPr preferRelativeResize="0"/>
          <p:nvPr/>
        </p:nvPicPr>
        <p:blipFill rotWithShape="1">
          <a:blip r:embed="rId5">
            <a:alphaModFix/>
          </a:blip>
          <a:srcRect b="0" l="0" r="0" t="0"/>
          <a:stretch/>
        </p:blipFill>
        <p:spPr>
          <a:xfrm>
            <a:off x="619125" y="3105150"/>
            <a:ext cx="228600" cy="247650"/>
          </a:xfrm>
          <a:prstGeom prst="rect">
            <a:avLst/>
          </a:prstGeom>
          <a:noFill/>
          <a:ln>
            <a:noFill/>
          </a:ln>
        </p:spPr>
      </p:pic>
      <p:pic>
        <p:nvPicPr>
          <p:cNvPr descr="image.png" id="274" name="Google Shape;274;p27"/>
          <p:cNvPicPr preferRelativeResize="0"/>
          <p:nvPr/>
        </p:nvPicPr>
        <p:blipFill rotWithShape="1">
          <a:blip r:embed="rId6">
            <a:alphaModFix/>
          </a:blip>
          <a:srcRect b="0" l="0" r="0" t="0"/>
          <a:stretch/>
        </p:blipFill>
        <p:spPr>
          <a:xfrm>
            <a:off x="619125" y="3829050"/>
            <a:ext cx="228600" cy="247650"/>
          </a:xfrm>
          <a:prstGeom prst="rect">
            <a:avLst/>
          </a:prstGeom>
          <a:noFill/>
          <a:ln>
            <a:noFill/>
          </a:ln>
        </p:spPr>
      </p:pic>
      <p:pic>
        <p:nvPicPr>
          <p:cNvPr descr="image.png" id="275" name="Google Shape;275;p27"/>
          <p:cNvPicPr preferRelativeResize="0"/>
          <p:nvPr/>
        </p:nvPicPr>
        <p:blipFill rotWithShape="1">
          <a:blip r:embed="rId7">
            <a:alphaModFix/>
          </a:blip>
          <a:srcRect b="0" l="0" r="0" t="0"/>
          <a:stretch/>
        </p:blipFill>
        <p:spPr>
          <a:xfrm>
            <a:off x="619125" y="4552950"/>
            <a:ext cx="200025" cy="247650"/>
          </a:xfrm>
          <a:prstGeom prst="rect">
            <a:avLst/>
          </a:prstGeom>
          <a:noFill/>
          <a:ln>
            <a:noFill/>
          </a:ln>
        </p:spPr>
      </p:pic>
      <p:sp>
        <p:nvSpPr>
          <p:cNvPr id="276" name="Google Shape;276;p27"/>
          <p:cNvSpPr txBox="1"/>
          <p:nvPr/>
        </p:nvSpPr>
        <p:spPr>
          <a:xfrm>
            <a:off x="762000" y="571500"/>
            <a:ext cx="9801225" cy="4476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03366"/>
                </a:solidFill>
                <a:latin typeface="Merriweather"/>
                <a:ea typeface="Merriweather"/>
                <a:cs typeface="Merriweather"/>
                <a:sym typeface="Merriweather"/>
              </a:rPr>
              <a:t>Conclusiones y Trabajo Futuro</a:t>
            </a:r>
            <a:endParaRPr/>
          </a:p>
        </p:txBody>
      </p:sp>
      <p:sp>
        <p:nvSpPr>
          <p:cNvPr id="277" name="Google Shape;277;p27"/>
          <p:cNvSpPr/>
          <p:nvPr/>
        </p:nvSpPr>
        <p:spPr>
          <a:xfrm>
            <a:off x="571500" y="571500"/>
            <a:ext cx="76200" cy="447675"/>
          </a:xfrm>
          <a:prstGeom prst="rect">
            <a:avLst/>
          </a:prstGeom>
          <a:solidFill>
            <a:srgbClr val="11CA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AF1"/>
        </a:solidFill>
      </p:bgPr>
    </p:bg>
    <p:spTree>
      <p:nvGrpSpPr>
        <p:cNvPr id="281" name="Shape 281"/>
        <p:cNvGrpSpPr/>
        <p:nvPr/>
      </p:nvGrpSpPr>
      <p:grpSpPr>
        <a:xfrm>
          <a:off x="0" y="0"/>
          <a:ext cx="0" cy="0"/>
          <a:chOff x="0" y="0"/>
          <a:chExt cx="0" cy="0"/>
        </a:xfrm>
      </p:grpSpPr>
      <p:pic>
        <p:nvPicPr>
          <p:cNvPr descr="image.png" id="282" name="Google Shape;282;p2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83" name="Google Shape;283;p28"/>
          <p:cNvPicPr preferRelativeResize="0"/>
          <p:nvPr/>
        </p:nvPicPr>
        <p:blipFill rotWithShape="1">
          <a:blip r:embed="rId4">
            <a:alphaModFix/>
          </a:blip>
          <a:srcRect b="0" l="0" r="0" t="0"/>
          <a:stretch/>
        </p:blipFill>
        <p:spPr>
          <a:xfrm>
            <a:off x="3362325" y="4040385"/>
            <a:ext cx="5467350" cy="1381125"/>
          </a:xfrm>
          <a:prstGeom prst="rect">
            <a:avLst/>
          </a:prstGeom>
          <a:noFill/>
          <a:ln>
            <a:noFill/>
          </a:ln>
        </p:spPr>
      </p:pic>
      <p:sp>
        <p:nvSpPr>
          <p:cNvPr id="284" name="Google Shape;284;p28"/>
          <p:cNvSpPr txBox="1"/>
          <p:nvPr/>
        </p:nvSpPr>
        <p:spPr>
          <a:xfrm>
            <a:off x="295275" y="2068710"/>
            <a:ext cx="11601450" cy="9620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6000" u="none" cap="none" strike="noStrike">
                <a:solidFill>
                  <a:srgbClr val="003366"/>
                </a:solidFill>
                <a:latin typeface="Merriweather"/>
                <a:ea typeface="Merriweather"/>
                <a:cs typeface="Merriweather"/>
                <a:sym typeface="Merriweather"/>
              </a:rPr>
              <a:t>¿Preguntas?</a:t>
            </a:r>
            <a:endParaRPr/>
          </a:p>
        </p:txBody>
      </p:sp>
      <p:sp>
        <p:nvSpPr>
          <p:cNvPr id="285" name="Google Shape;285;p28"/>
          <p:cNvSpPr txBox="1"/>
          <p:nvPr/>
        </p:nvSpPr>
        <p:spPr>
          <a:xfrm>
            <a:off x="571500" y="3221235"/>
            <a:ext cx="11049000" cy="3429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800" u="none" cap="none" strike="noStrike">
                <a:solidFill>
                  <a:srgbClr val="475569"/>
                </a:solidFill>
                <a:latin typeface="DM Sans"/>
                <a:ea typeface="DM Sans"/>
                <a:cs typeface="DM Sans"/>
                <a:sym typeface="DM Sans"/>
              </a:rPr>
              <a:t>Agradezco sinceramente su atención.</a:t>
            </a:r>
            <a:endParaRPr/>
          </a:p>
        </p:txBody>
      </p:sp>
      <p:sp>
        <p:nvSpPr>
          <p:cNvPr id="286" name="Google Shape;286;p28"/>
          <p:cNvSpPr txBox="1"/>
          <p:nvPr/>
        </p:nvSpPr>
        <p:spPr>
          <a:xfrm>
            <a:off x="3362325" y="4335660"/>
            <a:ext cx="5467350" cy="2857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i="0" lang="en-US" sz="1500" u="none" cap="none" strike="noStrike">
                <a:solidFill>
                  <a:srgbClr val="003366"/>
                </a:solidFill>
                <a:latin typeface="DM Sans"/>
                <a:ea typeface="DM Sans"/>
                <a:cs typeface="DM Sans"/>
                <a:sym typeface="DM Sans"/>
              </a:rPr>
              <a:t>Maximiliano Morales</a:t>
            </a:r>
            <a:endParaRPr/>
          </a:p>
        </p:txBody>
      </p:sp>
      <p:sp>
        <p:nvSpPr>
          <p:cNvPr id="287" name="Google Shape;287;p28"/>
          <p:cNvSpPr txBox="1"/>
          <p:nvPr/>
        </p:nvSpPr>
        <p:spPr>
          <a:xfrm>
            <a:off x="3362325" y="4716660"/>
            <a:ext cx="5467350" cy="25717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i="0" lang="en-US" sz="1350" u="none" cap="none" strike="noStrike">
                <a:solidFill>
                  <a:srgbClr val="475569"/>
                </a:solidFill>
                <a:latin typeface="DM Sans"/>
                <a:ea typeface="DM Sans"/>
                <a:cs typeface="DM Sans"/>
                <a:sym typeface="DM Sans"/>
              </a:rPr>
              <a:t>Escuela de Ingeniería Civil Biomédica | Universidad de Valparaíso</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